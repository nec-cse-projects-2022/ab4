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8"/>
  </p:handoutMasterIdLst>
  <p:sldIdLst>
    <p:sldId id="258" r:id="rId3"/>
    <p:sldId id="260" r:id="rId5"/>
    <p:sldId id="262" r:id="rId6"/>
    <p:sldId id="279" r:id="rId7"/>
    <p:sldId id="263" r:id="rId8"/>
    <p:sldId id="265" r:id="rId9"/>
    <p:sldId id="270" r:id="rId10"/>
    <p:sldId id="266" r:id="rId11"/>
    <p:sldId id="269" r:id="rId12"/>
    <p:sldId id="271" r:id="rId13"/>
    <p:sldId id="290" r:id="rId14"/>
    <p:sldId id="282" r:id="rId15"/>
    <p:sldId id="294" r:id="rId16"/>
    <p:sldId id="295" r:id="rId17"/>
    <p:sldId id="291" r:id="rId18"/>
    <p:sldId id="292" r:id="rId19"/>
    <p:sldId id="272" r:id="rId20"/>
    <p:sldId id="289" r:id="rId21"/>
    <p:sldId id="273" r:id="rId22"/>
    <p:sldId id="293" r:id="rId23"/>
    <p:sldId id="278" r:id="rId24"/>
    <p:sldId id="280" r:id="rId25"/>
    <p:sldId id="275" r:id="rId26"/>
    <p:sldId id="27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fld>
            <a:endParaRPr lang="en-IN"/>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5E58F0A-825B-43EC-9CD7-118F126DA1B6}"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24C803B-62AD-4010-AEFB-D9AF802A6496}"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92EF212-5EE0-4AA8-AA52-1AD4716B5520}"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0D477AD5-9516-4803-9B8F-64EFE6B04E97}" type="datetime1">
              <a:rPr lang="en-IN" smtClean="0"/>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2FEC19F5-3ACF-4602-91F2-584ADA347226}" type="datetime1">
              <a:rPr lang="en-IN" smtClean="0"/>
            </a:fld>
            <a:endParaRPr lang="en-IN"/>
          </a:p>
        </p:txBody>
      </p:sp>
      <p:sp>
        <p:nvSpPr>
          <p:cNvPr id="8" name="Footer Placeholder 7"/>
          <p:cNvSpPr>
            <a:spLocks noGrp="1"/>
          </p:cNvSpPr>
          <p:nvPr>
            <p:ph type="ftr" sz="quarter" idx="11"/>
          </p:nvPr>
        </p:nvSpPr>
        <p:spPr/>
        <p:txBody>
          <a:bodyPr/>
          <a:lstStyle/>
          <a:p>
            <a:r>
              <a:rPr lang="en-US"/>
              <a:t>Review No.         Batch No.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F932DEC-E61F-415A-BB11-622ACF22FA82}" type="datetime1">
              <a:rPr lang="en-IN" smtClean="0"/>
            </a:fld>
            <a:endParaRPr lang="en-IN"/>
          </a:p>
        </p:txBody>
      </p:sp>
      <p:sp>
        <p:nvSpPr>
          <p:cNvPr id="4" name="Footer Placeholder 3"/>
          <p:cNvSpPr>
            <a:spLocks noGrp="1"/>
          </p:cNvSpPr>
          <p:nvPr>
            <p:ph type="ftr" sz="quarter" idx="11"/>
          </p:nvPr>
        </p:nvSpPr>
        <p:spPr/>
        <p:txBody>
          <a:bodyPr/>
          <a:lstStyle/>
          <a:p>
            <a:r>
              <a:rPr lang="en-US"/>
              <a:t>Review No.         Batch No.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96EEC6-0141-45B7-8835-252B848F88BA}" type="datetime1">
              <a:rPr lang="en-IN" smtClean="0"/>
            </a:fld>
            <a:endParaRPr lang="en-IN"/>
          </a:p>
        </p:txBody>
      </p:sp>
      <p:sp>
        <p:nvSpPr>
          <p:cNvPr id="3" name="Footer Placeholder 2"/>
          <p:cNvSpPr>
            <a:spLocks noGrp="1"/>
          </p:cNvSpPr>
          <p:nvPr>
            <p:ph type="ftr" sz="quarter" idx="11"/>
          </p:nvPr>
        </p:nvSpPr>
        <p:spPr/>
        <p:txBody>
          <a:bodyPr/>
          <a:lstStyle/>
          <a:p>
            <a:r>
              <a:rPr lang="en-US"/>
              <a:t>Review No.         Batch No.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C53116E-6FF0-4C6D-8DFD-00263320DEBD}" type="datetime1">
              <a:rPr lang="en-IN" smtClean="0"/>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FB6E4B8-84AF-4AF2-B62C-BFAB3810F0B1}" type="datetime1">
              <a:rPr lang="en-IN" smtClean="0"/>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9F6D04C-3771-42DE-9B65-7B6404FB4859}"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6B51216-7DD8-4439-BE7B-781B8BCB2E48}"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E797CF1-9FF6-48D4-89E7-B1B5528DDDD6}"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797CF1-9FF6-48D4-89E7-B1B5528DDDD6}"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Batch No.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tags" Target="../tags/tag4.xml"/><Relationship Id="rId4" Type="http://schemas.openxmlformats.org/officeDocument/2006/relationships/image" Target="../media/image11.png"/><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anose="02020603050405020304" pitchFamily="18" charset="0"/>
              </a:rPr>
              <a:t>Department of Computer Science and Engineering</a:t>
            </a:r>
            <a:endParaRPr lang="en-US" b="1" dirty="0">
              <a:latin typeface="Times New Roman" panose="02020603050405020304" pitchFamily="18" charset="0"/>
              <a:cs typeface="Times New Roman" panose="02020603050405020304" pitchFamily="18" charset="0"/>
            </a:endParaRPr>
          </a:p>
          <a:p>
            <a:pPr algn="ctr">
              <a:spcBef>
                <a:spcPct val="20000"/>
              </a:spcBef>
              <a:defRPr/>
            </a:pPr>
            <a:r>
              <a:rPr lang="en-US"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Performance-Driven Text Classification on MovieLens-100K Using FLAN-T5 and BART</a:t>
            </a:r>
            <a:endParaRPr lang="en-US"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6" name="Subtitle 2"/>
          <p:cNvSpPr>
            <a:spLocks noGrp="1"/>
          </p:cNvSpPr>
          <p:nvPr>
            <p:ph type="subTitle" idx="1"/>
          </p:nvPr>
        </p:nvSpPr>
        <p:spPr>
          <a:xfrm>
            <a:off x="1881450" y="1968030"/>
            <a:ext cx="9144000" cy="1603428"/>
          </a:xfrm>
        </p:spPr>
        <p:txBody>
          <a:bodyPr>
            <a:normAutofit lnSpcReduction="20000"/>
          </a:bodyPr>
          <a:lstStyle/>
          <a:p>
            <a:pPr eaLnBrk="1" hangingPunct="1"/>
            <a:r>
              <a:rPr lang="en-US" altLang="en-US" sz="1600" dirty="0">
                <a:solidFill>
                  <a:schemeClr val="tx1"/>
                </a:solidFill>
                <a:latin typeface="Times New Roman" panose="02020603050405020304" pitchFamily="18" charset="0"/>
                <a:cs typeface="Times New Roman" panose="02020603050405020304" pitchFamily="18" charset="0"/>
              </a:rPr>
              <a:t>PRESENTED BY</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eaLnBrk="1" hangingPunct="1"/>
            <a:r>
              <a:rPr lang="en-US" altLang="en-US" sz="1600" dirty="0">
                <a:solidFill>
                  <a:schemeClr val="tx1"/>
                </a:solidFill>
                <a:latin typeface="Times New Roman" panose="02020603050405020304" pitchFamily="18" charset="0"/>
                <a:cs typeface="Times New Roman" panose="02020603050405020304" pitchFamily="18" charset="0"/>
              </a:rPr>
              <a:t>		Atmakuri Jagadeesh</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22471A0502</a:t>
            </a:r>
            <a:r>
              <a:rPr lang="en-US" altLang="en-US" sz="1600" dirty="0">
                <a:solidFill>
                  <a:schemeClr val="tx1"/>
                </a:solidFill>
                <a:latin typeface="Times New Roman" panose="02020603050405020304" pitchFamily="18" charset="0"/>
                <a:cs typeface="Times New Roman" panose="02020603050405020304" pitchFamily="18" charset="0"/>
              </a:rPr>
              <a:t>)</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a:r>
              <a:rPr lang="en-US" altLang="en-US" sz="1600" dirty="0">
                <a:solidFill>
                  <a:schemeClr val="tx1"/>
                </a:solidFill>
                <a:latin typeface="Times New Roman" panose="02020603050405020304" pitchFamily="18" charset="0"/>
                <a:cs typeface="Times New Roman" panose="02020603050405020304" pitchFamily="18" charset="0"/>
              </a:rPr>
              <a:t>		Shaik Mohammad Farooq		(</a:t>
            </a:r>
            <a:r>
              <a:rPr lang="en-US" altLang="en-US" sz="1600" dirty="0">
                <a:latin typeface="Times New Roman" panose="02020603050405020304" pitchFamily="18" charset="0"/>
                <a:cs typeface="Times New Roman" panose="02020603050405020304" pitchFamily="18" charset="0"/>
              </a:rPr>
              <a:t>22471A0552</a:t>
            </a:r>
            <a:r>
              <a:rPr lang="en-US" altLang="en-US" sz="1600" dirty="0">
                <a:solidFill>
                  <a:schemeClr val="tx1"/>
                </a:solidFill>
                <a:latin typeface="Times New Roman" panose="02020603050405020304" pitchFamily="18" charset="0"/>
                <a:cs typeface="Times New Roman" panose="02020603050405020304" pitchFamily="18" charset="0"/>
              </a:rPr>
              <a:t>) </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Shaik Madeena Noushik</a:t>
            </a:r>
            <a:r>
              <a:rPr lang="en-US" altLang="en-US" sz="1600" dirty="0">
                <a:latin typeface="Times New Roman" panose="02020603050405020304" pitchFamily="18" charset="0"/>
                <a:cs typeface="Times New Roman" panose="02020603050405020304" pitchFamily="18" charset="0"/>
              </a:rPr>
              <a:t> </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22471A0551</a:t>
            </a:r>
            <a:r>
              <a:rPr lang="en-US" altLang="en-US" sz="1600" dirty="0">
                <a:solidFill>
                  <a:schemeClr val="tx1"/>
                </a:solidFill>
                <a:latin typeface="Times New Roman" panose="02020603050405020304" pitchFamily="18" charset="0"/>
                <a:cs typeface="Times New Roman" panose="02020603050405020304" pitchFamily="18" charset="0"/>
              </a:rPr>
              <a:t>) 	</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a:r>
              <a:rPr lang="en-US" altLang="en-US" sz="1600" dirty="0">
                <a:solidFill>
                  <a:schemeClr val="tx1"/>
                </a:solidFill>
                <a:latin typeface="Times New Roman" panose="02020603050405020304" pitchFamily="18" charset="0"/>
                <a:cs typeface="Times New Roman" panose="02020603050405020304" pitchFamily="18" charset="0"/>
              </a:rPr>
              <a:t>                   	Nalabolu Balakrishna reddy	   	(</a:t>
            </a:r>
            <a:r>
              <a:rPr lang="en-US" altLang="en-US" sz="1600" dirty="0">
                <a:latin typeface="Times New Roman" panose="02020603050405020304" pitchFamily="18" charset="0"/>
                <a:cs typeface="Times New Roman" panose="02020603050405020304" pitchFamily="18" charset="0"/>
              </a:rPr>
              <a:t>22471A0542</a:t>
            </a:r>
            <a:r>
              <a:rPr lang="en-US" altLang="en-US" sz="1600" dirty="0">
                <a:solidFill>
                  <a:schemeClr val="tx1"/>
                </a:solidFill>
                <a:latin typeface="Times New Roman" panose="02020603050405020304" pitchFamily="18" charset="0"/>
                <a:cs typeface="Times New Roman" panose="02020603050405020304" pitchFamily="18" charset="0"/>
              </a:rPr>
              <a:t>)</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a:endParaRPr lang="en-US" altLang="en-US" sz="1600" dirty="0">
              <a:solidFill>
                <a:schemeClr val="tx1"/>
              </a:solidFill>
              <a:latin typeface="Times New Roman" panose="02020603050405020304" pitchFamily="18" charset="0"/>
              <a:cs typeface="Times New Roman" panose="02020603050405020304" pitchFamily="18" charset="0"/>
            </a:endParaRPr>
          </a:p>
          <a:p>
            <a:pPr algn="l"/>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17" name="Subtitle 2"/>
          <p:cNvSpPr txBox="1"/>
          <p:nvPr/>
        </p:nvSpPr>
        <p:spPr bwMode="auto">
          <a:xfrm>
            <a:off x="2782854" y="3571458"/>
            <a:ext cx="6858000" cy="2288429"/>
          </a:xfrm>
          <a:prstGeom prst="rect">
            <a:avLst/>
          </a:prstGeom>
          <a:noFill/>
          <a:ln w="9525">
            <a:noFill/>
            <a:miter lim="800000"/>
          </a:ln>
        </p:spPr>
        <p:txBody>
          <a:bodyPr/>
          <a:lstStyle/>
          <a:p>
            <a:pPr algn="ctr" eaLnBrk="1" hangingPunct="1">
              <a:spcBef>
                <a:spcPct val="20000"/>
              </a:spcBef>
              <a:buFont typeface="Wingdings" panose="05000000000000000000" pitchFamily="2" charset="2"/>
              <a:buNone/>
            </a:pPr>
            <a:r>
              <a:rPr lang="en-US" altLang="en-US" dirty="0">
                <a:solidFill>
                  <a:srgbClr val="006600"/>
                </a:solidFill>
                <a:latin typeface="Times New Roman" panose="02020603050405020304" pitchFamily="18" charset="0"/>
                <a:cs typeface="Times New Roman" panose="02020603050405020304" pitchFamily="18" charset="0"/>
              </a:rPr>
              <a:t>Under the Guidance of,</a:t>
            </a:r>
            <a:endParaRPr lang="en-US" altLang="en-US" b="1" dirty="0">
              <a:solidFill>
                <a:srgbClr val="006600"/>
              </a:solidFill>
              <a:latin typeface="Times New Roman" panose="02020603050405020304" pitchFamily="18" charset="0"/>
              <a:cs typeface="Times New Roman" panose="02020603050405020304" pitchFamily="18" charset="0"/>
            </a:endParaRPr>
          </a:p>
          <a:p>
            <a:pPr algn="ctr" eaLnBrk="1" hangingPunct="1">
              <a:spcBef>
                <a:spcPct val="20000"/>
              </a:spcBef>
              <a:buFont typeface="Wingdings" panose="05000000000000000000" pitchFamily="2" charset="2"/>
              <a:buNone/>
            </a:pPr>
            <a:endParaRPr lang="en-US" altLang="en-US" sz="900" b="1" dirty="0">
              <a:solidFill>
                <a:schemeClr val="bg1"/>
              </a:solidFill>
              <a:latin typeface="Times New Roman" panose="02020603050405020304" pitchFamily="18" charset="0"/>
              <a:cs typeface="Times New Roman" panose="02020603050405020304" pitchFamily="18" charset="0"/>
            </a:endParaRPr>
          </a:p>
          <a:p>
            <a:pPr algn="ctr">
              <a:spcBef>
                <a:spcPct val="20000"/>
              </a:spcBef>
            </a:pPr>
            <a:r>
              <a:rPr lang="en-US" sz="1600" b="1" dirty="0">
                <a:latin typeface="Times New Roman" panose="02020603050405020304" pitchFamily="18" charset="0"/>
                <a:cs typeface="Times New Roman" panose="02020603050405020304" pitchFamily="18" charset="0"/>
              </a:rPr>
              <a:t> Syed Rizwana</a:t>
            </a:r>
            <a:r>
              <a:rPr lang="en-US" sz="1600" b="1" baseline="-25000" dirty="0">
                <a:latin typeface="Times New Roman" panose="02020603050405020304" pitchFamily="18" charset="0"/>
                <a:cs typeface="Times New Roman" panose="02020603050405020304" pitchFamily="18" charset="0"/>
              </a:rPr>
              <a:t> M.Tech, (</a:t>
            </a:r>
            <a:r>
              <a:rPr lang="en-US" sz="1600" b="1" baseline="-25000" dirty="0" err="1">
                <a:latin typeface="Times New Roman" panose="02020603050405020304" pitchFamily="18" charset="0"/>
                <a:cs typeface="Times New Roman" panose="02020603050405020304" pitchFamily="18" charset="0"/>
              </a:rPr>
              <a:t>Ph.D)</a:t>
            </a:r>
            <a:endParaRPr lang="en-IN" sz="1600" dirty="0">
              <a:latin typeface="Times New Roman" panose="02020603050405020304" pitchFamily="18" charset="0"/>
              <a:cs typeface="Times New Roman" panose="02020603050405020304" pitchFamily="18" charset="0"/>
            </a:endParaRPr>
          </a:p>
          <a:p>
            <a:pPr algn="ctr" eaLnBrk="1" hangingPunct="1">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Assistant Professor,</a:t>
            </a:r>
            <a:endParaRPr lang="en-US" altLang="en-US" sz="1600" dirty="0">
              <a:latin typeface="Times New Roman" panose="02020603050405020304" pitchFamily="18" charset="0"/>
              <a:cs typeface="Times New Roman" panose="02020603050405020304" pitchFamily="18" charset="0"/>
            </a:endParaRP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Department of Computer Science and Engineering,</a:t>
            </a:r>
            <a:endParaRPr lang="en-US" altLang="en-US" sz="1600" dirty="0">
              <a:latin typeface="Times New Roman" panose="02020603050405020304" pitchFamily="18" charset="0"/>
              <a:cs typeface="Times New Roman" panose="02020603050405020304" pitchFamily="18" charset="0"/>
            </a:endParaRP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Narasaraopeta Engineering College (Autonomous),</a:t>
            </a:r>
            <a:endParaRPr lang="en-US" altLang="en-US" sz="1600" dirty="0">
              <a:latin typeface="Times New Roman" panose="02020603050405020304" pitchFamily="18" charset="0"/>
              <a:cs typeface="Times New Roman" panose="02020603050405020304" pitchFamily="18" charset="0"/>
            </a:endParaRP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Narasaraopet- 522 601.</a:t>
            </a:r>
            <a:endParaRPr lang="en-US" altLang="en-US" sz="16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0" y="90674"/>
            <a:ext cx="3762900" cy="579027"/>
          </a:xfrm>
          <a:prstGeom prst="rect">
            <a:avLst/>
          </a:prstGeom>
        </p:spPr>
      </p:pic>
      <p:sp>
        <p:nvSpPr>
          <p:cNvPr id="20" name="Date Placeholder 4"/>
          <p:cNvSpPr>
            <a:spLocks noGrp="1"/>
          </p:cNvSpPr>
          <p:nvPr>
            <p:ph type="dt" sz="half" idx="10"/>
          </p:nvPr>
        </p:nvSpPr>
        <p:spPr>
          <a:xfrm>
            <a:off x="838200" y="6356350"/>
            <a:ext cx="2743200" cy="365125"/>
          </a:xfrm>
        </p:spPr>
        <p:txBody>
          <a:bodyPr/>
          <a:lstStyle/>
          <a:p>
            <a:r>
              <a:rPr lang="en-US">
                <a:latin typeface="Times New Roman" panose="02020603050405020304" pitchFamily="18" charset="0"/>
                <a:cs typeface="Times New Roman" panose="02020603050405020304" pitchFamily="18" charset="0"/>
              </a:rPr>
              <a:t>05/12/2025</a:t>
            </a:r>
            <a:endParaRPr lang="en-US">
              <a:latin typeface="Times New Roman" panose="02020603050405020304" pitchFamily="18" charset="0"/>
              <a:cs typeface="Times New Roman" panose="02020603050405020304" pitchFamily="18" charset="0"/>
            </a:endParaRPr>
          </a:p>
        </p:txBody>
      </p:sp>
      <p:sp>
        <p:nvSpPr>
          <p:cNvPr id="21" name="Footer Placeholder 5"/>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Review No.2         Batch No.AB4           Department of CSE</a:t>
            </a:r>
            <a:endParaRPr lang="en-US" dirty="0">
              <a:latin typeface="Times New Roman" panose="02020603050405020304" pitchFamily="18" charset="0"/>
              <a:cs typeface="Times New Roman" panose="02020603050405020304" pitchFamily="18" charset="0"/>
            </a:endParaRPr>
          </a:p>
        </p:txBody>
      </p:sp>
      <p:sp>
        <p:nvSpPr>
          <p:cNvPr id="23" name="Slide Number Placeholder 6"/>
          <p:cNvSpPr>
            <a:spLocks noGrp="1"/>
          </p:cNvSpPr>
          <p:nvPr>
            <p:ph type="sldNum" sz="quarter" idx="12"/>
          </p:nvPr>
        </p:nvSpPr>
        <p:spPr>
          <a:xfrm>
            <a:off x="8610600" y="6356350"/>
            <a:ext cx="2743200" cy="365125"/>
          </a:xfrm>
        </p:spPr>
        <p:txBody>
          <a:bodyPr/>
          <a:lstStyle/>
          <a:p>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274193"/>
            <a:ext cx="10515600" cy="4683829"/>
          </a:xfrm>
        </p:spPr>
        <p:txBody>
          <a:bodyPr>
            <a:normAutofit fontScale="82500" lnSpcReduction="20000"/>
          </a:bodyPr>
          <a:lstStyle/>
          <a:p>
            <a:r>
              <a:rPr lang="en-IN"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Introduction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Research Gaps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Objectives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Results and Analysis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Conclusion &amp; Future Scope</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Question and Answers</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2        Batch No. AB4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493134"/>
            <a:ext cx="10515600" cy="4351338"/>
          </a:xfrm>
        </p:spPr>
        <p:txBody>
          <a:bodyPr>
            <a:noAutofit/>
          </a:bodyPr>
          <a:lstStyle/>
          <a:p>
            <a:pPr marL="0" indent="0" algn="just">
              <a:lnSpc>
                <a:spcPct val="10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Accurate genre prediction and tailored suggestions are important to enhancing the usability and quality of user interaction on online streaming platforms. At present, recommender systems, such as collaborative filtering and conventional deep learning methods, can often be problematic in terms of interpretability, sparsity, and the cold-start problem. This study presents a performance-based framework that leverages two transformer-based natural language processing models, FLAN- T5 and BART, to improve both accuracy in genre classification and recommendations co-optimally. The evaluation method involves using the MovieLens-100K dataset (100,000 user ratings on 1,682 movies). FLAN-T5 was utilized to generate summaries and extract semantic features, while the classification task was accomplished via BART in a zero-shot classification style for genre prediction from a predefined list of genres. The suggested way generates movie summaries from audio subtitle data and already enriched context information. The results indicate that the proposed framework achieved competitive performance with a best accuracy of 92% and an F1-score of 0.85 for genre predictions. The novelty of this work lies in relating FLAN-T5 for summarization, BART for zero-shot multi-label classification, and explanations via LIME for interpretability, thus addressing both predictive performance and transparency in recommendation systems.</a:t>
            </a:r>
            <a:endParaRPr lang="en-US" altLang="en-US" sz="18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2        Batch No.  AB4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INTRODUCTION</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492250"/>
            <a:ext cx="10515600" cy="4685030"/>
          </a:xfrm>
        </p:spPr>
        <p:txBody>
          <a:bodyPr>
            <a:normAutofit fontScale="90000" lnSpcReduction="10000"/>
          </a:bodyPr>
          <a:lstStyle/>
          <a:p>
            <a:pPr>
              <a:buClrTx/>
              <a:buFont typeface="Wingdings" panose="05000000000000000000" pitchFamily="2" charset="2"/>
              <a:buChar char="v"/>
            </a:pPr>
            <a:r>
              <a:rPr lang="en-US" altLang="en-US" sz="2220" dirty="0">
                <a:latin typeface="Times New Roman" panose="02020603050405020304" pitchFamily="18" charset="0"/>
                <a:ea typeface="Arial" panose="020B0604020202020204"/>
                <a:sym typeface="+mn-ea"/>
              </a:rPr>
              <a:t>Movie recommendation systems help users find relevant content.</a:t>
            </a:r>
            <a:endParaRPr lang="en-US" altLang="en-US" sz="222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2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20" dirty="0">
                <a:latin typeface="Times New Roman" panose="02020603050405020304" pitchFamily="18" charset="0"/>
                <a:ea typeface="Arial" panose="020B0604020202020204"/>
                <a:sym typeface="+mn-ea"/>
              </a:rPr>
              <a:t>Traditional methods like collaborative filtering face issues such as </a:t>
            </a:r>
            <a:r>
              <a:rPr lang="en-US" altLang="en-US" sz="2220" dirty="0">
                <a:latin typeface="Times New Roman" panose="02020603050405020304" pitchFamily="18" charset="0"/>
                <a:ea typeface="Arial" panose="020B0604020202020204"/>
                <a:sym typeface="+mn-ea"/>
              </a:rPr>
              <a:t>cold-start, sparsity, and </a:t>
            </a:r>
            <a:endParaRPr lang="en-US" altLang="en-US" sz="2220" dirty="0">
              <a:latin typeface="Times New Roman" panose="02020603050405020304" pitchFamily="18" charset="0"/>
              <a:ea typeface="Arial" panose="020B0604020202020204"/>
            </a:endParaRPr>
          </a:p>
          <a:p>
            <a:pPr marL="0" indent="0">
              <a:buClrTx/>
              <a:buFont typeface="Wingdings" panose="05000000000000000000" pitchFamily="2" charset="2"/>
              <a:buNone/>
            </a:pPr>
            <a:r>
              <a:rPr lang="en-US" altLang="en-US" sz="2220" b="1" dirty="0">
                <a:latin typeface="Times New Roman" panose="02020603050405020304" pitchFamily="18" charset="0"/>
                <a:ea typeface="Arial" panose="020B0604020202020204"/>
                <a:sym typeface="+mn-ea"/>
              </a:rPr>
              <a:t>    </a:t>
            </a:r>
            <a:r>
              <a:rPr lang="en-US" altLang="en-US" sz="2220" dirty="0">
                <a:latin typeface="Times New Roman" panose="02020603050405020304" pitchFamily="18" charset="0"/>
                <a:ea typeface="Arial" panose="020B0604020202020204"/>
                <a:sym typeface="+mn-ea"/>
              </a:rPr>
              <a:t>lack of context.</a:t>
            </a:r>
            <a:endParaRPr lang="en-US" altLang="en-US" sz="222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2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20" dirty="0">
                <a:latin typeface="Times New Roman" panose="02020603050405020304" pitchFamily="18" charset="0"/>
                <a:ea typeface="Arial" panose="020B0604020202020204"/>
                <a:sym typeface="+mn-ea"/>
              </a:rPr>
              <a:t>Large Language Models (LLMs)</a:t>
            </a:r>
            <a:r>
              <a:rPr lang="en-US" altLang="en-US" sz="2220" b="1" dirty="0">
                <a:latin typeface="Times New Roman" panose="02020603050405020304" pitchFamily="18" charset="0"/>
                <a:ea typeface="Arial" panose="020B0604020202020204"/>
                <a:sym typeface="+mn-ea"/>
              </a:rPr>
              <a:t> </a:t>
            </a:r>
            <a:r>
              <a:rPr lang="en-US" altLang="en-US" sz="2220" dirty="0">
                <a:latin typeface="Times New Roman" panose="02020603050405020304" pitchFamily="18" charset="0"/>
                <a:ea typeface="Arial" panose="020B0604020202020204"/>
                <a:sym typeface="+mn-ea"/>
              </a:rPr>
              <a:t>improve understanding of text through semantic analysis.</a:t>
            </a:r>
            <a:endParaRPr lang="en-US" altLang="en-US" sz="222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2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20" dirty="0">
                <a:latin typeface="Times New Roman" panose="02020603050405020304" pitchFamily="18" charset="0"/>
                <a:ea typeface="Arial" panose="020B0604020202020204"/>
                <a:sym typeface="+mn-ea"/>
              </a:rPr>
              <a:t>This study uses FLAN-T5(Fine-tuned Language Net – Text-to-Text Transfer Transformer) and BART(Bidirectional and Auto-Regressive Transformer) on the </a:t>
            </a:r>
            <a:r>
              <a:rPr lang="en-US" altLang="en-US" sz="2220" dirty="0">
                <a:latin typeface="Times New Roman" panose="02020603050405020304" pitchFamily="18" charset="0"/>
                <a:ea typeface="Arial" panose="020B0604020202020204"/>
                <a:sym typeface="+mn-ea"/>
              </a:rPr>
              <a:t>MovieLens-100K dataset for genre prediction.</a:t>
            </a:r>
            <a:endParaRPr lang="en-US" altLang="en-US" sz="222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2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20" dirty="0">
                <a:latin typeface="Times New Roman" panose="02020603050405020304" pitchFamily="18" charset="0"/>
                <a:ea typeface="Arial" panose="020B0604020202020204"/>
                <a:sym typeface="+mn-ea"/>
              </a:rPr>
              <a:t>The framework combines summary generation, zero-shot classification,</a:t>
            </a:r>
            <a:r>
              <a:rPr lang="en-US" altLang="en-US" sz="2220" b="1" dirty="0">
                <a:latin typeface="Times New Roman" panose="02020603050405020304" pitchFamily="18" charset="0"/>
                <a:ea typeface="Arial" panose="020B0604020202020204"/>
                <a:sym typeface="+mn-ea"/>
              </a:rPr>
              <a:t> </a:t>
            </a:r>
            <a:r>
              <a:rPr lang="en-US" altLang="en-US" sz="2220" dirty="0">
                <a:latin typeface="Times New Roman" panose="02020603050405020304" pitchFamily="18" charset="0"/>
                <a:ea typeface="Arial" panose="020B0604020202020204"/>
                <a:sym typeface="+mn-ea"/>
              </a:rPr>
              <a:t>and LIME-based</a:t>
            </a:r>
            <a:endParaRPr lang="en-US" altLang="en-US" sz="2220" dirty="0">
              <a:latin typeface="Times New Roman" panose="02020603050405020304" pitchFamily="18" charset="0"/>
              <a:ea typeface="Arial" panose="020B0604020202020204"/>
            </a:endParaRPr>
          </a:p>
          <a:p>
            <a:pPr marL="0" indent="0">
              <a:buClrTx/>
              <a:buFont typeface="Wingdings" panose="05000000000000000000" pitchFamily="2" charset="2"/>
              <a:buNone/>
            </a:pPr>
            <a:r>
              <a:rPr lang="en-US" altLang="en-US" sz="2220" dirty="0">
                <a:latin typeface="Times New Roman" panose="02020603050405020304" pitchFamily="18" charset="0"/>
                <a:ea typeface="Arial" panose="020B0604020202020204"/>
                <a:sym typeface="+mn-ea"/>
              </a:rPr>
              <a:t>    explanations for better </a:t>
            </a:r>
            <a:r>
              <a:rPr lang="en-US" altLang="en-US" sz="2220" dirty="0">
                <a:latin typeface="Times New Roman" panose="02020603050405020304" pitchFamily="18" charset="0"/>
                <a:ea typeface="Arial" panose="020B0604020202020204"/>
                <a:sym typeface="+mn-ea"/>
              </a:rPr>
              <a:t>accuracy and transparency.</a:t>
            </a:r>
            <a:endParaRPr lang="en-US" altLang="en-US" sz="2220" dirty="0">
              <a:latin typeface="Times New Roman" panose="02020603050405020304" pitchFamily="18" charset="0"/>
              <a:ea typeface="Arial" panose="020B0604020202020204"/>
              <a:cs typeface="Times New Roman" panose="02020603050405020304" pitchFamily="18" charset="0"/>
              <a:sym typeface="+mn-ea"/>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2        Batch No. AB4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6"/>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2        Batch No.  AB4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0" name="Content Placeholder 8"/>
          <p:cNvSpPr txBox="1"/>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graphicFrame>
        <p:nvGraphicFramePr>
          <p:cNvPr id="3" name="Table 3"/>
          <p:cNvGraphicFramePr>
            <a:graphicFrameLocks noGrp="1"/>
          </p:cNvGraphicFramePr>
          <p:nvPr/>
        </p:nvGraphicFramePr>
        <p:xfrm>
          <a:off x="685800" y="927280"/>
          <a:ext cx="10820400" cy="5495925"/>
        </p:xfrm>
        <a:graphic>
          <a:graphicData uri="http://schemas.openxmlformats.org/drawingml/2006/table">
            <a:tbl>
              <a:tblPr firstRow="1" bandRow="1">
                <a:tableStyleId>{17292A2E-F333-43FB-9621-5CBBE7FDCDCB}</a:tableStyleId>
              </a:tblPr>
              <a:tblGrid>
                <a:gridCol w="608080"/>
                <a:gridCol w="1943580"/>
                <a:gridCol w="1430793"/>
                <a:gridCol w="1859655"/>
                <a:gridCol w="1886750"/>
                <a:gridCol w="1545771"/>
                <a:gridCol w="1545771"/>
              </a:tblGrid>
              <a:tr h="550103">
                <a:tc>
                  <a:txBody>
                    <a:bodyPr/>
                    <a:lstStyle/>
                    <a:p>
                      <a:pPr algn="ctr"/>
                      <a:r>
                        <a:rPr lang="en-US" sz="1600" dirty="0">
                          <a:solidFill>
                            <a:schemeClr val="tx1"/>
                          </a:solidFill>
                        </a:rPr>
                        <a:t>No</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Author</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Journal Name &amp; Year</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Gaps</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49985">
                <a:tc>
                  <a:txBody>
                    <a:bodyPr/>
                    <a:lstStyle/>
                    <a:p>
                      <a:r>
                        <a:rPr lang="en-US" sz="1400" dirty="0"/>
                        <a:t>1</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400" b="0" i="0">
                          <a:solidFill>
                            <a:srgbClr val="000000"/>
                          </a:solidFill>
                          <a:latin typeface="Times New Roman" panose="02020603050405020304"/>
                          <a:ea typeface="Times New Roman" panose="02020603050405020304"/>
                        </a:rPr>
                        <a:t>Transformative Movie </a:t>
                      </a:r>
                      <a:r>
                        <a:rPr lang="en-US" sz="1400" b="0" i="0">
                          <a:solidFill>
                            <a:srgbClr val="000000"/>
                          </a:solidFill>
                          <a:latin typeface="Times New Roman" panose="02020603050405020304"/>
                          <a:ea typeface="Times New Roman" panose="02020603050405020304"/>
                        </a:rPr>
                        <a:t>     </a:t>
                      </a:r>
                      <a:r>
                        <a:rPr sz="1400" b="0" i="0">
                          <a:solidFill>
                            <a:srgbClr val="000000"/>
                          </a:solidFill>
                          <a:latin typeface="Times New Roman" panose="02020603050405020304"/>
                          <a:ea typeface="Times New Roman" panose="02020603050405020304"/>
                        </a:rPr>
                        <a:t>Discovery: Large </a:t>
                      </a:r>
                      <a:r>
                        <a:rPr lang="en-US" sz="1400" b="0" i="0">
                          <a:solidFill>
                            <a:srgbClr val="000000"/>
                          </a:solidFill>
                          <a:latin typeface="Times New Roman" panose="02020603050405020304"/>
                          <a:ea typeface="Times New Roman" panose="02020603050405020304"/>
                        </a:rPr>
                        <a:t>    </a:t>
                      </a:r>
                      <a:r>
                        <a:rPr sz="1400" b="0" i="0">
                          <a:solidFill>
                            <a:srgbClr val="000000"/>
                          </a:solidFill>
                          <a:latin typeface="Times New Roman" panose="02020603050405020304"/>
                          <a:ea typeface="Times New Roman" panose="02020603050405020304"/>
                        </a:rPr>
                        <a:t>Language</a:t>
                      </a:r>
                      <a:r>
                        <a:rPr lang="en-US" sz="1400" b="0" i="0">
                          <a:solidFill>
                            <a:srgbClr val="000000"/>
                          </a:solidFill>
                          <a:latin typeface="Times New Roman" panose="02020603050405020304"/>
                          <a:ea typeface="Times New Roman" panose="02020603050405020304"/>
                        </a:rPr>
                        <a:t> </a:t>
                      </a:r>
                      <a:r>
                        <a:rPr sz="1400" b="0" i="0">
                          <a:solidFill>
                            <a:srgbClr val="000000"/>
                          </a:solidFill>
                          <a:latin typeface="Times New Roman" panose="02020603050405020304"/>
                          <a:ea typeface="Times New Roman" panose="02020603050405020304"/>
                        </a:rPr>
                        <a:t>Models for Recommendation and Genre</a:t>
                      </a:r>
                      <a:r>
                        <a:rPr lang="en-US" sz="1400" b="0" i="0">
                          <a:solidFill>
                            <a:srgbClr val="000000"/>
                          </a:solidFill>
                          <a:latin typeface="Times New Roman" panose="02020603050405020304"/>
                          <a:ea typeface="Times New Roman" panose="02020603050405020304"/>
                        </a:rPr>
                        <a:t> </a:t>
                      </a:r>
                      <a:r>
                        <a:rPr sz="1400" b="0" i="0">
                          <a:solidFill>
                            <a:srgbClr val="000000"/>
                          </a:solidFill>
                          <a:latin typeface="Times New Roman" panose="02020603050405020304"/>
                          <a:ea typeface="Times New Roman" panose="02020603050405020304"/>
                        </a:rPr>
                        <a:t>Prediction</a:t>
                      </a:r>
                      <a:endParaRPr sz="1400" b="0" i="0">
                        <a:solidFill>
                          <a:srgbClr val="000000"/>
                        </a:solidFill>
                        <a:latin typeface="Times New Roman" panose="02020603050405020304"/>
                        <a:ea typeface="Times New Roman" panose="02020603050405020304"/>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a:t>
                      </a:r>
                      <a:r>
                        <a:rPr lang="en-US" altLang="en-US" sz="1400" dirty="0"/>
                        <a:t>Subham Raj,   Anurag Sharma,                                 and          Sriparna Saha</a:t>
                      </a:r>
                      <a:endParaRPr lang="en-US" altLang="en-US" sz="1400" dirty="0"/>
                    </a:p>
                    <a:p>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https://ieeexplore.ieee.org/abstract/document/10720773</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Subtitle Extraction &amp; Prompt Formation</a:t>
                      </a:r>
                      <a:endParaRPr lang="en-US" altLang="en-US" sz="1400" b="0" dirty="0">
                        <a:latin typeface="Times New Roman" panose="02020603050405020304" pitchFamily="18" charset="0"/>
                        <a:cs typeface="Times New Roman" panose="02020603050405020304" pitchFamily="18" charset="0"/>
                      </a:endParaRPr>
                    </a:p>
                    <a:p>
                      <a:r>
                        <a:rPr lang="en-US" altLang="en-US" sz="1400" b="0" dirty="0">
                          <a:latin typeface="Times New Roman" panose="02020603050405020304" pitchFamily="18" charset="0"/>
                          <a:cs typeface="Times New Roman" panose="02020603050405020304" pitchFamily="18" charset="0"/>
                        </a:rPr>
                        <a:t>Summary Generation</a:t>
                      </a:r>
                      <a:endParaRPr lang="en-US" altLang="en-US" sz="1400" b="0" dirty="0">
                        <a:latin typeface="Times New Roman" panose="02020603050405020304" pitchFamily="18" charset="0"/>
                        <a:cs typeface="Times New Roman" panose="02020603050405020304" pitchFamily="18" charset="0"/>
                      </a:endParaRPr>
                    </a:p>
                    <a:p>
                      <a:r>
                        <a:rPr lang="en-US" altLang="en-US" sz="1400" b="0" dirty="0">
                          <a:latin typeface="Times New Roman" panose="02020603050405020304" pitchFamily="18" charset="0"/>
                          <a:cs typeface="Times New Roman" panose="02020603050405020304" pitchFamily="18" charset="0"/>
                        </a:rPr>
                        <a:t>Genre Prediction</a:t>
                      </a:r>
                      <a:endParaRPr lang="en-US" altLang="en-US" sz="1400" b="0" dirty="0">
                        <a:latin typeface="Times New Roman" panose="02020603050405020304" pitchFamily="18" charset="0"/>
                        <a:cs typeface="Times New Roman" panose="02020603050405020304" pitchFamily="18" charset="0"/>
                      </a:endParaRPr>
                    </a:p>
                    <a:p>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400" b="0" i="0">
                          <a:solidFill>
                            <a:srgbClr val="000000"/>
                          </a:solidFill>
                          <a:latin typeface="Times New Roman" panose="02020603050405020304"/>
                          <a:ea typeface="Times New Roman" panose="02020603050405020304"/>
                        </a:rPr>
                        <a:t>GPT-3.5 Turbo</a:t>
                      </a:r>
                      <a:br>
                        <a:rPr sz="1400" b="0" i="0">
                          <a:solidFill>
                            <a:srgbClr val="000000"/>
                          </a:solidFill>
                          <a:latin typeface="Times New Roman" panose="02020603050405020304"/>
                          <a:ea typeface="Times New Roman" panose="02020603050405020304"/>
                        </a:rPr>
                      </a:br>
                      <a:r>
                        <a:rPr sz="1400" b="0" i="0">
                          <a:solidFill>
                            <a:srgbClr val="000000"/>
                          </a:solidFill>
                          <a:latin typeface="Times New Roman" panose="02020603050405020304"/>
                          <a:ea typeface="Times New Roman" panose="02020603050405020304"/>
                        </a:rPr>
                        <a:t>GPT-4</a:t>
                      </a:r>
                      <a:endParaRPr sz="1400" b="0" i="0">
                        <a:solidFill>
                          <a:srgbClr val="000000"/>
                        </a:solidFill>
                        <a:latin typeface="Times New Roman" panose="02020603050405020304"/>
                        <a:ea typeface="Times New Roman" panose="02020603050405020304"/>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latin typeface="Times New Roman" panose="02020603050405020304" pitchFamily="18" charset="0"/>
                          <a:cs typeface="Times New Roman" panose="02020603050405020304" pitchFamily="18" charset="0"/>
                        </a:rPr>
                        <a:t>Cold-start problem</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Sparse user interaction data</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Lack of generalization</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47516">
                <a:tc>
                  <a:txBody>
                    <a:bodyPr/>
                    <a:lstStyle/>
                    <a:p>
                      <a:r>
                        <a:rPr lang="en-US" sz="1400" dirty="0"/>
                        <a:t>2</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400" b="0" i="0">
                          <a:solidFill>
                            <a:srgbClr val="000000"/>
                          </a:solidFill>
                          <a:latin typeface="Times New Roman" panose="02020603050405020304" pitchFamily="18" charset="0"/>
                          <a:ea typeface="Microsoft Sans Serif" panose="020B0604020202020204"/>
                          <a:cs typeface="Times New Roman" panose="02020603050405020304" pitchFamily="18" charset="0"/>
                        </a:rPr>
                        <a:t>Movie Recommendation System Based on Collaborative </a:t>
                      </a:r>
                      <a:br>
                        <a:rPr sz="14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400" b="0" i="0">
                          <a:solidFill>
                            <a:srgbClr val="000000"/>
                          </a:solidFill>
                          <a:latin typeface="Times New Roman" panose="02020603050405020304" pitchFamily="18" charset="0"/>
                          <a:ea typeface="Microsoft Sans Serif" panose="020B0604020202020204"/>
                          <a:cs typeface="Times New Roman" panose="02020603050405020304" pitchFamily="18" charset="0"/>
                        </a:rPr>
                        <a:t>Filtering Network</a:t>
                      </a:r>
                      <a:endParaRPr sz="1400" b="0" i="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latin typeface="Times New Roman" panose="02020603050405020304" pitchFamily="18" charset="0"/>
                          <a:cs typeface="Times New Roman" panose="02020603050405020304" pitchFamily="18" charset="0"/>
                        </a:rPr>
                        <a:t>Ke Tang</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Research Gate (2024)</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collaborative filtering</a:t>
                      </a:r>
                      <a:endParaRPr lang="en-US" altLang="en-US" sz="1400" b="0" dirty="0">
                        <a:latin typeface="Times New Roman" panose="02020603050405020304" pitchFamily="18" charset="0"/>
                        <a:cs typeface="Times New Roman" panose="02020603050405020304" pitchFamily="18" charset="0"/>
                      </a:endParaRPr>
                    </a:p>
                    <a:p>
                      <a:r>
                        <a:rPr lang="en-US" altLang="en-US" sz="1400" b="0" dirty="0">
                          <a:latin typeface="Times New Roman" panose="02020603050405020304" pitchFamily="18" charset="0"/>
                          <a:cs typeface="Times New Roman" panose="02020603050405020304" pitchFamily="18" charset="0"/>
                        </a:rPr>
                        <a:t>regularization</a:t>
                      </a:r>
                      <a:endParaRPr lang="en-US" altLang="en-US" sz="1400" b="0" dirty="0">
                        <a:latin typeface="Times New Roman" panose="02020603050405020304" pitchFamily="18" charset="0"/>
                        <a:cs typeface="Times New Roman" panose="02020603050405020304" pitchFamily="18" charset="0"/>
                      </a:endParaRPr>
                    </a:p>
                    <a:p>
                      <a:r>
                        <a:rPr lang="en-US" altLang="en-US" sz="1400" b="0" dirty="0">
                          <a:latin typeface="Times New Roman" panose="02020603050405020304" pitchFamily="18" charset="0"/>
                          <a:cs typeface="Times New Roman" panose="02020603050405020304" pitchFamily="18" charset="0"/>
                        </a:rPr>
                        <a:t>batch normalization</a:t>
                      </a:r>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t>hit ratio of 0.70</a:t>
                      </a:r>
                      <a:b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t>capture complex user-item interactions</a:t>
                      </a:r>
                      <a:b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t>deep learning models like CFN</a:t>
                      </a:r>
                      <a:endParaRPr sz="1200" b="0" i="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1" dirty="0">
                          <a:latin typeface="Times New Roman" panose="02020603050405020304" pitchFamily="18" charset="0"/>
                          <a:cs typeface="Times New Roman" panose="02020603050405020304" pitchFamily="18" charset="0"/>
                        </a:rPr>
                        <a:t>Scalability issues</a:t>
                      </a:r>
                      <a:endParaRPr lang="en-US" altLang="en-US" sz="1400" b="1" dirty="0">
                        <a:latin typeface="Times New Roman" panose="02020603050405020304" pitchFamily="18" charset="0"/>
                        <a:cs typeface="Times New Roman" panose="02020603050405020304" pitchFamily="18" charset="0"/>
                      </a:endParaRPr>
                    </a:p>
                    <a:p>
                      <a:r>
                        <a:rPr lang="en-US" altLang="en-US" sz="1400" b="1" dirty="0">
                          <a:latin typeface="Times New Roman" panose="02020603050405020304" pitchFamily="18" charset="0"/>
                          <a:cs typeface="Times New Roman" panose="02020603050405020304" pitchFamily="18" charset="0"/>
                        </a:rPr>
                        <a:t>Sparse data problem</a:t>
                      </a:r>
                      <a:endParaRPr lang="en-US" altLang="en-US" sz="1400" b="1" dirty="0">
                        <a:latin typeface="Times New Roman" panose="02020603050405020304" pitchFamily="18" charset="0"/>
                        <a:cs typeface="Times New Roman" panose="02020603050405020304" pitchFamily="18" charset="0"/>
                      </a:endParaRPr>
                    </a:p>
                    <a:p>
                      <a:r>
                        <a:rPr lang="en-US" altLang="en-US" sz="1400" b="1" dirty="0">
                          <a:latin typeface="Times New Roman" panose="02020603050405020304" pitchFamily="18" charset="0"/>
                          <a:cs typeface="Times New Roman" panose="02020603050405020304" pitchFamily="18" charset="0"/>
                        </a:rPr>
                        <a:t>Model-related</a:t>
                      </a:r>
                      <a:endParaRPr lang="en-US" altLang="en-US" sz="1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62261">
                <a:tc>
                  <a:txBody>
                    <a:bodyPr/>
                    <a:lstStyle/>
                    <a:p>
                      <a:r>
                        <a:rPr lang="en-US" sz="1400" dirty="0"/>
                        <a:t>3</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400" b="0" i="0">
                          <a:solidFill>
                            <a:srgbClr val="000000"/>
                          </a:solidFill>
                          <a:latin typeface="Times New Roman" panose="02020603050405020304" pitchFamily="18" charset="0"/>
                          <a:ea typeface="Microsoft Sans Serif" panose="020B0604020202020204"/>
                          <a:cs typeface="Times New Roman" panose="02020603050405020304" pitchFamily="18" charset="0"/>
                        </a:rPr>
                        <a:t>Enhancing Sequence Movie Recommendation System Using Deep Learning and KMeans</a:t>
                      </a:r>
                      <a:endParaRPr sz="1400" b="0" i="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latin typeface="Times New Roman" panose="02020603050405020304" pitchFamily="18" charset="0"/>
                          <a:cs typeface="Times New Roman" panose="02020603050405020304" pitchFamily="18" charset="0"/>
                        </a:rPr>
                        <a:t>Sophort Siet, </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Sony Peng,</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and Misun Kang</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IN" sz="1400" dirty="0"/>
                        <a:t>MDPI</a:t>
                      </a:r>
                      <a:r>
                        <a:rPr lang="en-IN" sz="1400" dirty="0"/>
                        <a:t> (202</a:t>
                      </a:r>
                      <a:r>
                        <a:rPr lang="en-US" altLang="en-IN" sz="1400" dirty="0"/>
                        <a:t>4</a:t>
                      </a:r>
                      <a:r>
                        <a:rPr lang="en-IN" sz="1400" dirty="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Input Features</a:t>
                      </a:r>
                      <a:endParaRPr lang="en-US" altLang="en-US" sz="1400" b="0" dirty="0">
                        <a:latin typeface="Times New Roman" panose="02020603050405020304" pitchFamily="18" charset="0"/>
                        <a:cs typeface="Times New Roman" panose="02020603050405020304" pitchFamily="18" charset="0"/>
                      </a:endParaRPr>
                    </a:p>
                    <a:p>
                      <a:r>
                        <a:rPr lang="en-US" altLang="en-US" sz="1400" b="0" dirty="0">
                          <a:latin typeface="Times New Roman" panose="02020603050405020304" pitchFamily="18" charset="0"/>
                          <a:cs typeface="Times New Roman" panose="02020603050405020304" pitchFamily="18" charset="0"/>
                        </a:rPr>
                        <a:t>Embedding Layers</a:t>
                      </a:r>
                      <a:endParaRPr lang="en-US" altLang="en-US" sz="1400" b="0" dirty="0">
                        <a:latin typeface="Times New Roman" panose="02020603050405020304" pitchFamily="18" charset="0"/>
                        <a:cs typeface="Times New Roman" panose="02020603050405020304" pitchFamily="18" charset="0"/>
                      </a:endParaRPr>
                    </a:p>
                    <a:p>
                      <a:r>
                        <a:rPr lang="en-US" altLang="en-US" sz="1400" b="0" dirty="0">
                          <a:latin typeface="Times New Roman" panose="02020603050405020304" pitchFamily="18" charset="0"/>
                          <a:cs typeface="Times New Roman" panose="02020603050405020304" pitchFamily="18" charset="0"/>
                        </a:rPr>
                        <a:t>Transformer Layer</a:t>
                      </a:r>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t>transformer model</a:t>
                      </a:r>
                      <a:b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t>transformer architecture</a:t>
                      </a:r>
                      <a:b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t>KMeans clustering</a:t>
                      </a:r>
                      <a:b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t>sequence-aware transformer model</a:t>
                      </a:r>
                      <a:endParaRPr sz="1200" b="0" i="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1" dirty="0"/>
                        <a:t>Lack of sequential modeling</a:t>
                      </a:r>
                      <a:endParaRPr lang="en-US" altLang="en-US" sz="1400" b="1" dirty="0"/>
                    </a:p>
                    <a:p>
                      <a:r>
                        <a:rPr lang="en-US" altLang="en-US" sz="1400" b="1" dirty="0"/>
                        <a:t>Data sparsity</a:t>
                      </a:r>
                      <a:endParaRPr lang="en-US" altLang="en-US" sz="1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7859">
                <a:tc>
                  <a:txBody>
                    <a:bodyPr/>
                    <a:lstStyle/>
                    <a:p>
                      <a:r>
                        <a:rPr lang="en-US" sz="1400" dirty="0"/>
                        <a:t>4</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400" b="0" i="0">
                          <a:solidFill>
                            <a:srgbClr val="000000"/>
                          </a:solidFill>
                          <a:latin typeface="Times New Roman" panose="02020603050405020304" pitchFamily="18" charset="0"/>
                          <a:ea typeface="Microsoft Sans Serif" panose="020B0604020202020204"/>
                          <a:cs typeface="Times New Roman" panose="02020603050405020304" pitchFamily="18" charset="0"/>
                        </a:rPr>
                        <a:t>Multimodal Movie Recommendation System Using Deep Learning</a:t>
                      </a:r>
                      <a:endParaRPr sz="1400" b="0" i="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Sony Peng,</a:t>
                      </a:r>
                      <a:endParaRPr lang="en-US" altLang="en-US" sz="1400" dirty="0"/>
                    </a:p>
                    <a:p>
                      <a:r>
                        <a:rPr lang="en-US" altLang="en-US" sz="1400" dirty="0"/>
                        <a:t>Sophort Siet,</a:t>
                      </a:r>
                      <a:endParaRPr lang="en-US" altLang="en-US" sz="1400" dirty="0"/>
                    </a:p>
                    <a:p>
                      <a:r>
                        <a:rPr lang="en-US" altLang="en-US" sz="1400" dirty="0"/>
                        <a:t>Misun Kang</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IN" sz="1400" dirty="0"/>
                        <a:t>MDPI</a:t>
                      </a:r>
                      <a:r>
                        <a:rPr lang="en-IN" sz="1400" dirty="0"/>
                        <a:t> (2023)</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t>Multimodal integration,</a:t>
                      </a:r>
                      <a:endParaRPr lang="en-US" altLang="en-US" sz="1400" b="0" dirty="0"/>
                    </a:p>
                    <a:p>
                      <a:r>
                        <a:rPr lang="en-US" altLang="en-US" sz="1400" b="0" dirty="0"/>
                        <a:t>Feature fusion strategy</a:t>
                      </a:r>
                      <a:endParaRPr lang="en-US" alt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Times New Roman" panose="02020603050405020304" pitchFamily="18" charset="0"/>
                          <a:ea typeface="Microsoft Sans Serif" panose="020B0604020202020204"/>
                          <a:cs typeface="Times New Roman" panose="02020603050405020304" pitchFamily="18" charset="0"/>
                        </a:rPr>
                        <a:t>Deep Learning (CNN) with Multimodal Data</a:t>
                      </a:r>
                      <a:br>
                        <a:rPr sz="10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000" b="0" i="0">
                          <a:solidFill>
                            <a:srgbClr val="000000"/>
                          </a:solidFill>
                          <a:latin typeface="Times New Roman" panose="02020603050405020304" pitchFamily="18" charset="0"/>
                          <a:ea typeface="Microsoft Sans Serif" panose="020B0604020202020204"/>
                          <a:cs typeface="Times New Roman" panose="02020603050405020304" pitchFamily="18" charset="0"/>
                        </a:rPr>
                        <a:t>Multimodal Fusion Algorithm</a:t>
                      </a:r>
                      <a:br>
                        <a:rPr sz="10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000" b="0" i="0">
                          <a:solidFill>
                            <a:srgbClr val="000000"/>
                          </a:solidFill>
                          <a:latin typeface="Times New Roman" panose="02020603050405020304" pitchFamily="18" charset="0"/>
                          <a:ea typeface="Microsoft Sans Serif" panose="020B0604020202020204"/>
                          <a:cs typeface="Times New Roman" panose="02020603050405020304" pitchFamily="18" charset="0"/>
                        </a:rPr>
                        <a:t> Comparison with Traditional Models</a:t>
                      </a:r>
                      <a:endParaRPr sz="1000" b="0" i="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1" dirty="0"/>
                        <a:t>Limited modality usage</a:t>
                      </a:r>
                      <a:endParaRPr lang="en-US" altLang="en-US" sz="1400" b="1" dirty="0"/>
                    </a:p>
                    <a:p>
                      <a:r>
                        <a:rPr lang="en-US" altLang="en-US" sz="1400" b="1" dirty="0"/>
                        <a:t>Shallow feature learning</a:t>
                      </a:r>
                      <a:endParaRPr lang="en-US" altLang="en-US" sz="1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1389">
                <a:tc>
                  <a:txBody>
                    <a:bodyPr/>
                    <a:lstStyle/>
                    <a:p>
                      <a:r>
                        <a:rPr lang="en-US" sz="1400" dirty="0"/>
                        <a:t>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t>User preference modeling for </a:t>
                      </a:r>
                      <a:b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t>movie recommendations based on </a:t>
                      </a:r>
                      <a:b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200" b="0" i="0">
                          <a:solidFill>
                            <a:srgbClr val="000000"/>
                          </a:solidFill>
                          <a:latin typeface="Times New Roman" panose="02020603050405020304" pitchFamily="18" charset="0"/>
                          <a:ea typeface="Microsoft Sans Serif" panose="020B0604020202020204"/>
                          <a:cs typeface="Times New Roman" panose="02020603050405020304" pitchFamily="18" charset="0"/>
                        </a:rPr>
                        <a:t>deep learning</a:t>
                      </a:r>
                      <a:endParaRPr sz="1200" b="0" i="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YangGao,</a:t>
                      </a:r>
                      <a:endParaRPr lang="en-US" altLang="en-US" sz="1400" dirty="0"/>
                    </a:p>
                    <a:p>
                      <a:r>
                        <a:rPr lang="en-US" altLang="en-US" sz="1400" dirty="0"/>
                        <a:t>Hong Zheng</a:t>
                      </a:r>
                      <a:endParaRPr lang="en-US" altLang="en-US" sz="1400" dirty="0"/>
                    </a:p>
                    <a:p>
                      <a:r>
                        <a:rPr lang="en-US" altLang="en-US" sz="1400" dirty="0"/>
                        <a:t>and Haonan Cui</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Scopus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t>Embedding layers</a:t>
                      </a:r>
                      <a:endParaRPr lang="en-US" altLang="en-US" sz="1400" b="0" dirty="0"/>
                    </a:p>
                    <a:p>
                      <a:r>
                        <a:rPr lang="en-US" altLang="en-US" sz="1400" b="0" dirty="0"/>
                        <a:t>Convolutional Neural Network</a:t>
                      </a:r>
                      <a:endParaRPr lang="en-US" altLang="en-US" sz="1400" b="0" dirty="0"/>
                    </a:p>
                    <a:p>
                      <a:r>
                        <a:rPr lang="en-US" altLang="en-US" sz="1400" b="0" dirty="0"/>
                        <a:t>Multilayer Perceptron</a:t>
                      </a:r>
                      <a:endParaRPr lang="en-US" alt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400" b="0" i="0">
                          <a:solidFill>
                            <a:srgbClr val="000000"/>
                          </a:solidFill>
                          <a:latin typeface="Times New Roman" panose="02020603050405020304" pitchFamily="18" charset="0"/>
                          <a:ea typeface="Microsoft Sans Serif" panose="020B0604020202020204"/>
                          <a:cs typeface="Times New Roman" panose="02020603050405020304" pitchFamily="18" charset="0"/>
                        </a:rPr>
                        <a:t>CNN model</a:t>
                      </a:r>
                      <a:br>
                        <a:rPr sz="1400" b="0" i="0">
                          <a:solidFill>
                            <a:srgbClr val="000000"/>
                          </a:solidFill>
                          <a:latin typeface="Times New Roman" panose="02020603050405020304" pitchFamily="18" charset="0"/>
                          <a:ea typeface="Microsoft Sans Serif" panose="020B0604020202020204"/>
                          <a:cs typeface="Times New Roman" panose="02020603050405020304" pitchFamily="18" charset="0"/>
                        </a:rPr>
                      </a:br>
                      <a:r>
                        <a:rPr sz="1400" b="0" i="0">
                          <a:solidFill>
                            <a:srgbClr val="000000"/>
                          </a:solidFill>
                          <a:latin typeface="Times New Roman" panose="02020603050405020304" pitchFamily="18" charset="0"/>
                          <a:ea typeface="Microsoft Sans Serif" panose="020B0604020202020204"/>
                          <a:cs typeface="Times New Roman" panose="02020603050405020304" pitchFamily="18" charset="0"/>
                        </a:rPr>
                        <a:t>Page</a:t>
                      </a:r>
                      <a:r>
                        <a:rPr lang="en-US" sz="1400" b="0" i="0">
                          <a:solidFill>
                            <a:srgbClr val="000000"/>
                          </a:solidFill>
                          <a:latin typeface="Times New Roman" panose="02020603050405020304" pitchFamily="18" charset="0"/>
                          <a:ea typeface="Microsoft Sans Serif" panose="020B0604020202020204"/>
                          <a:cs typeface="Times New Roman" panose="02020603050405020304" pitchFamily="18" charset="0"/>
                        </a:rPr>
                        <a:t> </a:t>
                      </a:r>
                      <a:r>
                        <a:rPr sz="1400" b="0" i="0">
                          <a:solidFill>
                            <a:srgbClr val="000000"/>
                          </a:solidFill>
                          <a:latin typeface="Times New Roman" panose="02020603050405020304" pitchFamily="18" charset="0"/>
                          <a:ea typeface="Microsoft Sans Serif" panose="020B0604020202020204"/>
                          <a:cs typeface="Times New Roman" panose="02020603050405020304" pitchFamily="18" charset="0"/>
                        </a:rPr>
                        <a:t>Rank model</a:t>
                      </a:r>
                      <a:endParaRPr sz="1400" b="0" i="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1" dirty="0"/>
                        <a:t>Linear modeling limitation</a:t>
                      </a:r>
                      <a:endParaRPr lang="en-US" altLang="en-US" sz="1400" b="1" dirty="0"/>
                    </a:p>
                    <a:p>
                      <a:r>
                        <a:rPr lang="en-US" altLang="en-US" sz="1400" b="1" dirty="0"/>
                        <a:t>Cold-start issue</a:t>
                      </a:r>
                      <a:endParaRPr lang="en-US" altLang="en-US" sz="1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351915"/>
            <a:ext cx="10515600" cy="4825365"/>
          </a:xfrm>
        </p:spPr>
        <p:txBody>
          <a:bodyPr>
            <a:normAutofit lnSpcReduction="20000"/>
          </a:bodyPr>
          <a:lstStyle/>
          <a:p>
            <a:pPr>
              <a:lnSpc>
                <a:spcPct val="150000"/>
              </a:lnSpc>
            </a:pPr>
            <a:r>
              <a:rPr lang="en-US" altLang="en-US" sz="2000" dirty="0">
                <a:latin typeface="Times New Roman" panose="02020603050405020304" pitchFamily="18" charset="0"/>
                <a:cs typeface="Times New Roman" panose="02020603050405020304" pitchFamily="18" charset="0"/>
              </a:rPr>
              <a:t>The model still struggles with the cold-start problem, limited dataset diversity,</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and lack of </a:t>
            </a:r>
            <a:r>
              <a:rPr lang="en-US" altLang="en-US" sz="2000" dirty="0">
                <a:latin typeface="Times New Roman" panose="02020603050405020304" pitchFamily="18" charset="0"/>
                <a:cs typeface="Times New Roman" panose="02020603050405020304" pitchFamily="18" charset="0"/>
              </a:rPr>
              <a:t>multimodal data integration.</a:t>
            </a:r>
            <a:endParaRPr lang="en-US" altLang="en-US" sz="2000" dirty="0">
              <a:latin typeface="Times New Roman" panose="02020603050405020304" pitchFamily="18" charset="0"/>
              <a:cs typeface="Times New Roman" panose="02020603050405020304" pitchFamily="18" charset="0"/>
            </a:endParaRPr>
          </a:p>
          <a:p>
            <a:pPr>
              <a:lnSpc>
                <a:spcPct val="150000"/>
              </a:lnSpc>
            </a:pPr>
            <a:r>
              <a:rPr lang="en-US" altLang="en-US" sz="2000" dirty="0">
                <a:latin typeface="Times New Roman" panose="02020603050405020304" pitchFamily="18" charset="0"/>
                <a:cs typeface="Times New Roman" panose="02020603050405020304" pitchFamily="18" charset="0"/>
              </a:rPr>
              <a:t>While improving accuracy, the model lacks contextual awareness,</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uses only static clustering</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(KMeans), and ignores real-time user behavior adaptation.</a:t>
            </a:r>
            <a:endParaRPr lang="en-US" altLang="en-US" sz="2000" dirty="0">
              <a:latin typeface="Times New Roman" panose="02020603050405020304" pitchFamily="18" charset="0"/>
              <a:cs typeface="Times New Roman" panose="02020603050405020304" pitchFamily="18" charset="0"/>
            </a:endParaRPr>
          </a:p>
          <a:p>
            <a:pPr>
              <a:lnSpc>
                <a:spcPct val="150000"/>
              </a:lnSpc>
            </a:pPr>
            <a:r>
              <a:rPr lang="en-US" altLang="en-US" sz="2000" dirty="0">
                <a:latin typeface="Times New Roman" panose="02020603050405020304" pitchFamily="18" charset="0"/>
                <a:cs typeface="Times New Roman" panose="02020603050405020304" pitchFamily="18" charset="0"/>
              </a:rPr>
              <a:t>Despite integrating multiple data types, the model faces challenges with high computational cost,</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limited interpretability,</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and </a:t>
            </a:r>
            <a:r>
              <a:rPr lang="en-US" altLang="en-US" sz="2000" dirty="0">
                <a:latin typeface="Times New Roman" panose="02020603050405020304" pitchFamily="18" charset="0"/>
                <a:cs typeface="Times New Roman" panose="02020603050405020304" pitchFamily="18" charset="0"/>
              </a:rPr>
              <a:t>shallow sentiment extraction using basic tools.</a:t>
            </a:r>
            <a:endParaRPr lang="en-US" altLang="en-US" sz="2000" dirty="0">
              <a:latin typeface="Times New Roman" panose="02020603050405020304" pitchFamily="18" charset="0"/>
              <a:cs typeface="Times New Roman" panose="02020603050405020304" pitchFamily="18" charset="0"/>
            </a:endParaRPr>
          </a:p>
          <a:p>
            <a:pPr>
              <a:lnSpc>
                <a:spcPct val="150000"/>
              </a:lnSpc>
            </a:pPr>
            <a:r>
              <a:rPr lang="en-US" altLang="en-US" sz="2000" dirty="0">
                <a:latin typeface="Times New Roman" panose="02020603050405020304" pitchFamily="18" charset="0"/>
                <a:cs typeface="Times New Roman" panose="02020603050405020304" pitchFamily="18" charset="0"/>
              </a:rPr>
              <a:t>The CNN–MLP framework improves accuracy but lacks temporal modeling, contextual learning,</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and</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explainability,</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making it less adaptive for evolving user interests.</a:t>
            </a:r>
            <a:endParaRPr lang="en-US" altLang="en-US" sz="2000" dirty="0">
              <a:latin typeface="Times New Roman" panose="02020603050405020304" pitchFamily="18" charset="0"/>
              <a:cs typeface="Times New Roman" panose="02020603050405020304" pitchFamily="18" charset="0"/>
            </a:endParaRPr>
          </a:p>
          <a:p>
            <a:pPr>
              <a:lnSpc>
                <a:spcPct val="150000"/>
              </a:lnSpc>
            </a:pPr>
            <a:r>
              <a:rPr lang="en-US" altLang="en-US" sz="2000" dirty="0">
                <a:latin typeface="Times New Roman" panose="02020603050405020304" pitchFamily="18" charset="0"/>
                <a:cs typeface="Times New Roman" panose="02020603050405020304" pitchFamily="18" charset="0"/>
              </a:rPr>
              <a:t>LLM-based recommendations show potential but face </a:t>
            </a:r>
            <a:r>
              <a:rPr lang="en-US" altLang="en-US" sz="2000" dirty="0">
                <a:latin typeface="Times New Roman" panose="02020603050405020304" pitchFamily="18" charset="0"/>
                <a:cs typeface="Times New Roman" panose="02020603050405020304" pitchFamily="18" charset="0"/>
              </a:rPr>
              <a:t>token limitations, computational expense, and lack fine-tuning</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for domain-specific personalization.</a:t>
            </a: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 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PROBLEM STATEMENT</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338580"/>
            <a:ext cx="10515600" cy="4838700"/>
          </a:xfrm>
        </p:spPr>
        <p:txBody>
          <a:bodyPr>
            <a:normAutofit/>
          </a:bodyPr>
          <a:lstStyle/>
          <a:p>
            <a:pPr>
              <a:lnSpc>
                <a:spcPct val="150000"/>
              </a:lnSpc>
              <a:buClrTx/>
              <a:buFont typeface="Wingdings" panose="05000000000000000000" pitchFamily="2" charset="2"/>
              <a:buChar char="v"/>
            </a:pPr>
            <a:r>
              <a:rPr lang="en-US" altLang="en-US" sz="2000" dirty="0">
                <a:latin typeface="Times New Roman" panose="02020603050405020304" pitchFamily="18" charset="0"/>
                <a:ea typeface="Arial" panose="020B0604020202020204"/>
                <a:cs typeface="Times New Roman" panose="02020603050405020304" pitchFamily="18" charset="0"/>
              </a:rPr>
              <a:t>Traditional recommendation systems rely heavily on user history and metadata, causing cold-start and data sparsity issues when information is limited. They also lack contextual understanding, which reduces recommendation quality, and provide low interpretability, making it unclear why specific items are suggested to users.</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a:lnSpc>
                <a:spcPct val="150000"/>
              </a:lnSpc>
              <a:buClrTx/>
              <a:buFont typeface="Wingdings" panose="05000000000000000000" pitchFamily="2" charset="2"/>
              <a:buChar char="v"/>
            </a:pPr>
            <a:r>
              <a:rPr lang="en-US" altLang="en-US" sz="2000" dirty="0">
                <a:latin typeface="Times New Roman" panose="02020603050405020304" pitchFamily="18" charset="0"/>
                <a:ea typeface="Arial" panose="020B0604020202020204"/>
                <a:cs typeface="Times New Roman" panose="02020603050405020304" pitchFamily="18" charset="0"/>
                <a:sym typeface="+mn-ea"/>
              </a:rPr>
              <a:t>There is a need for an </a:t>
            </a:r>
            <a:r>
              <a:rPr lang="en-US" altLang="en-US" sz="2000" dirty="0">
                <a:latin typeface="Times New Roman" panose="02020603050405020304" pitchFamily="18" charset="0"/>
                <a:ea typeface="Arial" panose="020B0604020202020204"/>
                <a:cs typeface="Times New Roman" panose="02020603050405020304" pitchFamily="18" charset="0"/>
                <a:sym typeface="+mn-ea"/>
              </a:rPr>
              <a:t>accurate and explainable text-based framework using transformer</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0" indent="0">
              <a:lnSpc>
                <a:spcPct val="150000"/>
              </a:lnSpc>
              <a:buClrTx/>
              <a:buFont typeface="Wingdings" panose="05000000000000000000" pitchFamily="2" charset="2"/>
              <a:buNone/>
            </a:pPr>
            <a:r>
              <a:rPr lang="en-US" altLang="en-US" sz="2000" dirty="0">
                <a:latin typeface="Times New Roman" panose="02020603050405020304" pitchFamily="18" charset="0"/>
                <a:ea typeface="Arial" panose="020B0604020202020204"/>
                <a:cs typeface="Times New Roman" panose="02020603050405020304" pitchFamily="18" charset="0"/>
                <a:sym typeface="+mn-ea"/>
              </a:rPr>
              <a:t>    models to improve </a:t>
            </a:r>
            <a:r>
              <a:rPr lang="en-US" altLang="en-US" sz="2000" dirty="0">
                <a:latin typeface="Times New Roman" panose="02020603050405020304" pitchFamily="18" charset="0"/>
                <a:ea typeface="Arial" panose="020B0604020202020204"/>
                <a:cs typeface="Times New Roman" panose="02020603050405020304" pitchFamily="18" charset="0"/>
                <a:sym typeface="+mn-ea"/>
              </a:rPr>
              <a:t>genre prediction and recommendations.</a:t>
            </a:r>
            <a:endParaRPr 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 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492250"/>
            <a:ext cx="10515600" cy="4685030"/>
          </a:xfrm>
        </p:spPr>
        <p:txBody>
          <a:bodyPr>
            <a:normAutofit fontScale="90000" lnSpcReduction="20000"/>
          </a:bodyPr>
          <a:lstStyle/>
          <a:p>
            <a:pPr marL="0" indent="0">
              <a:buClrTx/>
              <a:buFont typeface="Wingdings" panose="05000000000000000000" pitchFamily="2" charset="2"/>
              <a:buNone/>
            </a:pPr>
            <a:r>
              <a:rPr lang="en-US" altLang="en-US" sz="2665" b="1" dirty="0">
                <a:latin typeface="Times New Roman" panose="02020603050405020304" pitchFamily="18" charset="0"/>
                <a:ea typeface="Arial" panose="020B0604020202020204"/>
                <a:sym typeface="+mn-ea"/>
              </a:rPr>
              <a:t>Our Research work aims to:</a:t>
            </a:r>
            <a:endParaRPr lang="en-US" altLang="en-US" sz="2665" b="1" dirty="0">
              <a:latin typeface="Times New Roman" panose="02020603050405020304" pitchFamily="18" charset="0"/>
              <a:ea typeface="Arial" panose="020B0604020202020204"/>
              <a:sym typeface="+mn-ea"/>
            </a:endParaRPr>
          </a:p>
          <a:p>
            <a:pPr marL="0" indent="0">
              <a:buClrTx/>
              <a:buFont typeface="Wingdings" panose="05000000000000000000" pitchFamily="2" charset="2"/>
              <a:buNone/>
            </a:pPr>
            <a:endParaRPr lang="en-US" altLang="en-US" sz="2200" dirty="0">
              <a:latin typeface="Times New Roman" panose="02020603050405020304" pitchFamily="18" charset="0"/>
              <a:ea typeface="Arial" panose="020B0604020202020204"/>
              <a:sym typeface="+mn-ea"/>
            </a:endParaRPr>
          </a:p>
          <a:p>
            <a:pPr>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Develop a </a:t>
            </a:r>
            <a:r>
              <a:rPr lang="en-US" altLang="en-US" sz="2200" dirty="0">
                <a:latin typeface="Times New Roman" panose="02020603050405020304" pitchFamily="18" charset="0"/>
                <a:ea typeface="Arial" panose="020B0604020202020204"/>
                <a:sym typeface="+mn-ea"/>
              </a:rPr>
              <a:t>text classification framework for movie genre prediction.</a:t>
            </a: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00" b="1"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Use </a:t>
            </a:r>
            <a:r>
              <a:rPr lang="en-US" altLang="en-US" sz="2200" dirty="0">
                <a:latin typeface="Times New Roman" panose="02020603050405020304" pitchFamily="18" charset="0"/>
                <a:ea typeface="Arial" panose="020B0604020202020204"/>
                <a:sym typeface="+mn-ea"/>
              </a:rPr>
              <a:t>FLAN-T5 to generate concise movie summaries.</a:t>
            </a: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Apply BART</a:t>
            </a:r>
            <a:r>
              <a:rPr lang="en-US" altLang="en-US" sz="2200" b="1"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for zero-shot genre classification.</a:t>
            </a: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Improve accuracy and </a:t>
            </a:r>
            <a:r>
              <a:rPr lang="en-US" altLang="en-US" sz="2200" dirty="0">
                <a:latin typeface="Times New Roman" panose="02020603050405020304" pitchFamily="18" charset="0"/>
                <a:ea typeface="Arial" panose="020B0604020202020204"/>
                <a:sym typeface="+mn-ea"/>
              </a:rPr>
              <a:t>reduce dependency on user history.</a:t>
            </a: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Enhance model interpretability</a:t>
            </a:r>
            <a:r>
              <a:rPr lang="en-US" altLang="en-US" sz="2200" b="1"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using </a:t>
            </a:r>
            <a:r>
              <a:rPr lang="en-US" altLang="en-US" sz="2200" dirty="0">
                <a:latin typeface="Times New Roman" panose="02020603050405020304" pitchFamily="18" charset="0"/>
                <a:ea typeface="Arial" panose="020B0604020202020204"/>
                <a:sym typeface="+mn-ea"/>
              </a:rPr>
              <a:t>LIME explanations.</a:t>
            </a: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Demonstrate the strength of </a:t>
            </a:r>
            <a:r>
              <a:rPr lang="en-US" altLang="en-US" sz="2200" dirty="0">
                <a:latin typeface="Times New Roman" panose="02020603050405020304" pitchFamily="18" charset="0"/>
                <a:ea typeface="Arial" panose="020B0604020202020204"/>
                <a:sym typeface="+mn-ea"/>
              </a:rPr>
              <a:t>transformer-based NLP models in sparse-text scenarios.</a:t>
            </a:r>
            <a:endParaRPr lang="en-US" altLang="en-US" sz="2200" dirty="0">
              <a:latin typeface="Times New Roman" panose="02020603050405020304" pitchFamily="18" charset="0"/>
              <a:ea typeface="Arial" panose="020B0604020202020204"/>
            </a:endParaRP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 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endParaRPr lang="en-US" b="1" dirty="0">
              <a:latin typeface="Times New Roman" panose="02020603050405020304" pitchFamily="18" charset="0"/>
              <a:cs typeface="Times New Roman" panose="02020603050405020304" pitchFamily="18" charset="0"/>
            </a:endParaRPr>
          </a:p>
        </p:txBody>
      </p:sp>
      <p:pic>
        <p:nvPicPr>
          <p:cNvPr id="20492" name="Picture 3" descr="ChatGPT Image Oct 18, 2025, 08_32_44 PM"/>
          <p:cNvPicPr>
            <a:picLocks noChangeAspect="1"/>
          </p:cNvPicPr>
          <p:nvPr>
            <p:ph idx="1"/>
          </p:nvPr>
        </p:nvPicPr>
        <p:blipFill>
          <a:blip r:embed="rId1"/>
          <a:stretch>
            <a:fillRect/>
          </a:stretch>
        </p:blipFill>
        <p:spPr>
          <a:xfrm>
            <a:off x="7075805" y="1251585"/>
            <a:ext cx="4786630" cy="4910455"/>
          </a:xfrm>
          <a:prstGeom prst="rect">
            <a:avLst/>
          </a:prstGeom>
          <a:noFill/>
          <a:ln w="9525">
            <a:noFill/>
          </a:ln>
        </p:spPr>
      </p:pic>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 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4" name="Text Box 3"/>
          <p:cNvSpPr txBox="1"/>
          <p:nvPr/>
        </p:nvSpPr>
        <p:spPr>
          <a:xfrm>
            <a:off x="735965" y="1250950"/>
            <a:ext cx="6696710" cy="5105400"/>
          </a:xfrm>
          <a:prstGeom prst="rect">
            <a:avLst/>
          </a:prstGeom>
          <a:noFill/>
        </p:spPr>
        <p:txBody>
          <a:bodyPr wrap="square" rtlCol="0">
            <a:noAutofit/>
          </a:bodyPr>
          <a:p>
            <a:pPr>
              <a:lnSpc>
                <a:spcPct val="100000"/>
              </a:lnSpc>
              <a:buClrTx/>
              <a:buFont typeface="Wingdings" panose="05000000000000000000" pitchFamily="2" charset="2"/>
            </a:pPr>
            <a:r>
              <a:rPr lang="en-US" altLang="en-US" sz="2400" b="1" dirty="0">
                <a:latin typeface="Times New Roman" panose="02020603050405020304" pitchFamily="18" charset="0"/>
                <a:ea typeface="Arial" panose="020B0604020202020204"/>
                <a:sym typeface="+mn-ea"/>
              </a:rPr>
              <a:t>Pipeline Overview:</a:t>
            </a:r>
            <a:endParaRPr lang="en-US" altLang="en-US" sz="2400" b="1" dirty="0">
              <a:latin typeface="Times New Roman" panose="02020603050405020304" pitchFamily="18" charset="0"/>
              <a:ea typeface="Arial" panose="020B0604020202020204"/>
              <a:sym typeface="+mn-ea"/>
            </a:endParaRPr>
          </a:p>
          <a:p>
            <a:pPr>
              <a:lnSpc>
                <a:spcPct val="100000"/>
              </a:lnSpc>
              <a:buClrTx/>
              <a:buFont typeface="Wingdings" panose="05000000000000000000" pitchFamily="2" charset="2"/>
            </a:pPr>
            <a:r>
              <a:rPr lang="en-US" altLang="en-US" sz="2000" b="1">
                <a:latin typeface="Times New Roman" panose="02020603050405020304" pitchFamily="18" charset="0"/>
                <a:cs typeface="Times New Roman" panose="02020603050405020304" pitchFamily="18" charset="0"/>
              </a:rPr>
              <a:t>1. Dataset Size</a:t>
            </a:r>
            <a:endParaRPr lang="en-US" altLang="en-US" sz="2000" b="1">
              <a:latin typeface="Times New Roman" panose="02020603050405020304" pitchFamily="18" charset="0"/>
              <a:cs typeface="Times New Roman" panose="02020603050405020304" pitchFamily="18" charset="0"/>
            </a:endParaRPr>
          </a:p>
          <a:p>
            <a:pPr>
              <a:lnSpc>
                <a:spcPct val="100000"/>
              </a:lnSpc>
              <a:buClrTx/>
              <a:buFont typeface="Wingdings" panose="05000000000000000000" pitchFamily="2" charset="2"/>
            </a:pPr>
            <a:r>
              <a:rPr lang="en-US" altLang="en-US" sz="2000" b="1">
                <a:latin typeface="Times New Roman" panose="02020603050405020304" pitchFamily="18" charset="0"/>
                <a:cs typeface="Times New Roman" panose="02020603050405020304" pitchFamily="18" charset="0"/>
              </a:rPr>
              <a:t>    - </a:t>
            </a:r>
            <a:r>
              <a:rPr lang="en-US" altLang="en-US">
                <a:latin typeface="Times New Roman" panose="02020603050405020304" pitchFamily="18" charset="0"/>
                <a:cs typeface="Times New Roman" panose="02020603050405020304" pitchFamily="18" charset="0"/>
              </a:rPr>
              <a:t>Contains 100,000</a:t>
            </a:r>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user ratings.</a:t>
            </a:r>
            <a:endParaRPr lang="en-US" altLang="en-US">
              <a:latin typeface="Times New Roman" panose="02020603050405020304" pitchFamily="18" charset="0"/>
              <a:cs typeface="Times New Roman" panose="02020603050405020304" pitchFamily="18" charset="0"/>
            </a:endParaRPr>
          </a:p>
          <a:p>
            <a:pPr>
              <a:lnSpc>
                <a:spcPct val="100000"/>
              </a:lnSpc>
              <a:buClrTx/>
              <a:buFont typeface="Wingdings" panose="05000000000000000000" pitchFamily="2" charset="2"/>
            </a:pPr>
            <a:r>
              <a:rPr lang="en-US" altLang="en-US">
                <a:latin typeface="Times New Roman" panose="02020603050405020304" pitchFamily="18" charset="0"/>
                <a:cs typeface="Times New Roman" panose="02020603050405020304" pitchFamily="18" charset="0"/>
              </a:rPr>
              <a:t>     -  Ratings are between </a:t>
            </a:r>
            <a:r>
              <a:rPr lang="en-US" altLang="en-US">
                <a:latin typeface="Times New Roman" panose="02020603050405020304" pitchFamily="18" charset="0"/>
                <a:cs typeface="Times New Roman" panose="02020603050405020304" pitchFamily="18" charset="0"/>
              </a:rPr>
              <a:t>943 users and 1,682 movies.</a:t>
            </a:r>
            <a:endParaRPr lang="en-US" altLang="en-US" b="1">
              <a:latin typeface="Times New Roman" panose="02020603050405020304" pitchFamily="18" charset="0"/>
              <a:cs typeface="Times New Roman" panose="02020603050405020304" pitchFamily="18" charset="0"/>
            </a:endParaRPr>
          </a:p>
          <a:p>
            <a:pPr marL="342900" indent="-342900">
              <a:lnSpc>
                <a:spcPct val="100000"/>
              </a:lnSpc>
              <a:buClrTx/>
              <a:buFont typeface="Wingdings" panose="05000000000000000000" charset="0"/>
              <a:buChar char="Ø"/>
            </a:pPr>
            <a:r>
              <a:rPr lang="en-US" altLang="en-US" sz="2000" b="1">
                <a:latin typeface="Times New Roman" panose="02020603050405020304" pitchFamily="18" charset="0"/>
                <a:cs typeface="Times New Roman" panose="02020603050405020304" pitchFamily="18" charset="0"/>
              </a:rPr>
              <a:t>Source</a:t>
            </a:r>
            <a:endParaRPr lang="en-US" altLang="en-US" sz="2000" b="1">
              <a:latin typeface="Times New Roman" panose="02020603050405020304" pitchFamily="18" charset="0"/>
              <a:cs typeface="Times New Roman" panose="02020603050405020304" pitchFamily="18" charset="0"/>
            </a:endParaRPr>
          </a:p>
          <a:p>
            <a:pPr indent="0">
              <a:lnSpc>
                <a:spcPct val="100000"/>
              </a:lnSpc>
              <a:buClrTx/>
              <a:buFont typeface="Arial" panose="020B0604020202020204" pitchFamily="34" charset="0"/>
              <a:buNone/>
            </a:pPr>
            <a:r>
              <a:rPr lang="en-US" altLang="en-US" b="1" dirty="0">
                <a:latin typeface="Times New Roman" panose="02020603050405020304" pitchFamily="18" charset="0"/>
                <a:ea typeface="Arial" panose="020B0604020202020204"/>
                <a:sym typeface="+mn-ea"/>
              </a:rPr>
              <a:t>     - </a:t>
            </a:r>
            <a:r>
              <a:rPr lang="en-US" altLang="en-US" dirty="0">
                <a:latin typeface="Times New Roman" panose="02020603050405020304" pitchFamily="18" charset="0"/>
                <a:ea typeface="Arial" panose="020B0604020202020204"/>
                <a:sym typeface="+mn-ea"/>
              </a:rPr>
              <a:t>MovieLens-100K, containing movie titles, genres, </a:t>
            </a:r>
            <a:endParaRPr lang="en-US" altLang="en-US" dirty="0">
              <a:latin typeface="Times New Roman" panose="02020603050405020304" pitchFamily="18" charset="0"/>
              <a:ea typeface="Arial" panose="020B0604020202020204"/>
            </a:endParaRPr>
          </a:p>
          <a:p>
            <a:pPr>
              <a:lnSpc>
                <a:spcPct val="100000"/>
              </a:lnSpc>
              <a:buClrTx/>
              <a:buFont typeface="Wingdings" panose="05000000000000000000" pitchFamily="2" charset="2"/>
            </a:pPr>
            <a:r>
              <a:rPr lang="en-US" altLang="en-US" dirty="0">
                <a:latin typeface="Times New Roman" panose="02020603050405020304" pitchFamily="18" charset="0"/>
                <a:ea typeface="Arial" panose="020B0604020202020204"/>
                <a:sym typeface="+mn-ea"/>
              </a:rPr>
              <a:t>              and user tags.</a:t>
            </a:r>
            <a:endParaRPr lang="en-US" altLang="en-US" dirty="0">
              <a:latin typeface="Times New Roman" panose="02020603050405020304" pitchFamily="18" charset="0"/>
              <a:ea typeface="Arial" panose="020B0604020202020204"/>
            </a:endParaRPr>
          </a:p>
          <a:p>
            <a:pPr indent="0">
              <a:lnSpc>
                <a:spcPct val="100000"/>
              </a:lnSpc>
              <a:buClrTx/>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     - Widely used </a:t>
            </a:r>
            <a:r>
              <a:rPr lang="en-US" altLang="en-US">
                <a:latin typeface="Times New Roman" panose="02020603050405020304" pitchFamily="18" charset="0"/>
                <a:cs typeface="Times New Roman" panose="02020603050405020304" pitchFamily="18" charset="0"/>
              </a:rPr>
              <a:t>kaggle dataset in recommendation system research.</a:t>
            </a:r>
            <a:endParaRPr lang="en-US" altLang="en-US">
              <a:latin typeface="Times New Roman" panose="02020603050405020304" pitchFamily="18" charset="0"/>
              <a:cs typeface="Times New Roman" panose="02020603050405020304" pitchFamily="18" charset="0"/>
            </a:endParaRPr>
          </a:p>
          <a:p>
            <a:pPr marL="342900" indent="-342900">
              <a:lnSpc>
                <a:spcPct val="100000"/>
              </a:lnSpc>
              <a:buClrTx/>
              <a:buFont typeface="Wingdings" panose="05000000000000000000" charset="0"/>
              <a:buChar char="Ø"/>
            </a:pPr>
            <a:r>
              <a:rPr lang="en-US" altLang="en-US" sz="2000" b="1">
                <a:latin typeface="Times New Roman" panose="02020603050405020304" pitchFamily="18" charset="0"/>
                <a:cs typeface="Times New Roman" panose="02020603050405020304" pitchFamily="18" charset="0"/>
              </a:rPr>
              <a:t>Genre Information</a:t>
            </a:r>
            <a:endParaRPr lang="en-US" altLang="en-US" sz="2000" b="1">
              <a:latin typeface="Times New Roman" panose="02020603050405020304" pitchFamily="18" charset="0"/>
              <a:cs typeface="Times New Roman" panose="02020603050405020304" pitchFamily="18" charset="0"/>
            </a:endParaRPr>
          </a:p>
          <a:p>
            <a:pPr indent="0">
              <a:lnSpc>
                <a:spcPct val="100000"/>
              </a:lnSpc>
              <a:buClrTx/>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      - Each movie is associated with </a:t>
            </a:r>
            <a:r>
              <a:rPr lang="en-US" altLang="en-US">
                <a:latin typeface="Times New Roman" panose="02020603050405020304" pitchFamily="18" charset="0"/>
                <a:cs typeface="Times New Roman" panose="02020603050405020304" pitchFamily="18" charset="0"/>
              </a:rPr>
              <a:t>one or more of 19 genres</a:t>
            </a:r>
            <a:r>
              <a:rPr lang="en-US" altLang="en-US"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cs typeface="Times New Roman" panose="02020603050405020304" pitchFamily="18" charset="0"/>
              </a:rPr>
              <a:t> such</a:t>
            </a:r>
            <a:endParaRPr lang="en-US" altLang="en-US">
              <a:latin typeface="Times New Roman" panose="02020603050405020304" pitchFamily="18" charset="0"/>
              <a:cs typeface="Times New Roman" panose="02020603050405020304" pitchFamily="18" charset="0"/>
            </a:endParaRPr>
          </a:p>
          <a:p>
            <a:pPr indent="0">
              <a:lnSpc>
                <a:spcPct val="100000"/>
              </a:lnSpc>
              <a:buClrTx/>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          as:</a:t>
            </a:r>
            <a:endParaRPr lang="en-US" altLang="en-US">
              <a:latin typeface="Times New Roman" panose="02020603050405020304" pitchFamily="18" charset="0"/>
              <a:cs typeface="Times New Roman" panose="02020603050405020304" pitchFamily="18" charset="0"/>
            </a:endParaRPr>
          </a:p>
          <a:p>
            <a:pPr indent="0">
              <a:lnSpc>
                <a:spcPct val="100000"/>
              </a:lnSpc>
              <a:buClrTx/>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      - Action, Comedy, Drama, Thriller, Horror, Romance, Sci-Fi, etc.</a:t>
            </a:r>
            <a:endParaRPr lang="en-US" altLang="en-US">
              <a:latin typeface="Times New Roman" panose="02020603050405020304" pitchFamily="18" charset="0"/>
              <a:cs typeface="Times New Roman" panose="02020603050405020304" pitchFamily="18" charset="0"/>
            </a:endParaRPr>
          </a:p>
          <a:p>
            <a:pPr marL="342900" indent="-342900">
              <a:lnSpc>
                <a:spcPct val="100000"/>
              </a:lnSpc>
              <a:buClrTx/>
              <a:buFont typeface="Wingdings" panose="05000000000000000000" charset="0"/>
              <a:buChar char="Ø"/>
            </a:pPr>
            <a:r>
              <a:rPr lang="en-US" altLang="en-US" sz="2000" b="1">
                <a:latin typeface="Times New Roman" panose="02020603050405020304" pitchFamily="18" charset="0"/>
                <a:cs typeface="Times New Roman" panose="02020603050405020304" pitchFamily="18" charset="0"/>
              </a:rPr>
              <a:t>Rating Scale</a:t>
            </a:r>
            <a:endParaRPr lang="en-US" altLang="en-US" sz="2000" b="1">
              <a:latin typeface="Times New Roman" panose="02020603050405020304" pitchFamily="18" charset="0"/>
              <a:cs typeface="Times New Roman" panose="02020603050405020304" pitchFamily="18" charset="0"/>
            </a:endParaRPr>
          </a:p>
          <a:p>
            <a:pPr indent="0">
              <a:lnSpc>
                <a:spcPct val="100000"/>
              </a:lnSpc>
              <a:buClrTx/>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      - Ratings are provided on a </a:t>
            </a:r>
            <a:r>
              <a:rPr lang="en-US" altLang="en-US">
                <a:latin typeface="Times New Roman" panose="02020603050405020304" pitchFamily="18" charset="0"/>
                <a:cs typeface="Times New Roman" panose="02020603050405020304" pitchFamily="18" charset="0"/>
              </a:rPr>
              <a:t>1–5 scale.</a:t>
            </a:r>
            <a:endParaRPr lang="en-US" altLang="en-US">
              <a:latin typeface="Times New Roman" panose="02020603050405020304" pitchFamily="18" charset="0"/>
              <a:cs typeface="Times New Roman" panose="02020603050405020304" pitchFamily="18" charset="0"/>
            </a:endParaRPr>
          </a:p>
          <a:p>
            <a:pPr indent="0">
              <a:lnSpc>
                <a:spcPct val="100000"/>
              </a:lnSpc>
              <a:buClrTx/>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      - Captures user preferences and behavior patterns.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599440" y="1224915"/>
            <a:ext cx="10754360" cy="4952365"/>
          </a:xfrm>
        </p:spPr>
        <p:txBody>
          <a:bodyPr>
            <a:noAutofit/>
          </a:bodyPr>
          <a:lstStyle/>
          <a:p>
            <a:pPr>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Data Extraction:</a:t>
            </a:r>
            <a:r>
              <a:rPr lang="en-US" altLang="en-US" sz="2000" dirty="0">
                <a:latin typeface="Times New Roman" panose="02020603050405020304" pitchFamily="18" charset="0"/>
                <a:cs typeface="Times New Roman" panose="02020603050405020304" pitchFamily="18" charset="0"/>
              </a:rPr>
              <a:t> Loaded the MovieLens-100K dataset (titles, genres, user tags).</a:t>
            </a:r>
            <a:endParaRPr lang="en-US"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Text Cleaning: </a:t>
            </a:r>
            <a:r>
              <a:rPr lang="en-US" altLang="en-US" sz="2000" dirty="0">
                <a:latin typeface="Times New Roman" panose="02020603050405020304" pitchFamily="18" charset="0"/>
                <a:cs typeface="Times New Roman" panose="02020603050405020304" pitchFamily="18" charset="0"/>
              </a:rPr>
              <a:t>Removed punctuation, special characters, and stop words.</a:t>
            </a:r>
            <a:endParaRPr lang="en-US"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Normalization: </a:t>
            </a:r>
            <a:r>
              <a:rPr lang="en-US" altLang="en-US" sz="2000" dirty="0">
                <a:latin typeface="Times New Roman" panose="02020603050405020304" pitchFamily="18" charset="0"/>
                <a:cs typeface="Times New Roman" panose="02020603050405020304" pitchFamily="18" charset="0"/>
              </a:rPr>
              <a:t>Converted all text to lowercase and standardized spacing.</a:t>
            </a:r>
            <a:endParaRPr lang="en-US"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Text Construction: </a:t>
            </a:r>
            <a:r>
              <a:rPr lang="en-US" altLang="en-US" sz="2000" dirty="0">
                <a:latin typeface="Times New Roman" panose="02020603050405020304" pitchFamily="18" charset="0"/>
                <a:cs typeface="Times New Roman" panose="02020603050405020304" pitchFamily="18" charset="0"/>
              </a:rPr>
              <a:t>Combined movie</a:t>
            </a:r>
            <a:r>
              <a:rPr lang="en-US" altLang="en-US" sz="2000" dirty="0">
                <a:latin typeface="Times New Roman" panose="02020603050405020304" pitchFamily="18" charset="0"/>
                <a:cs typeface="Times New Roman" panose="02020603050405020304" pitchFamily="18" charset="0"/>
              </a:rPr>
              <a:t> title + genre + user tags into a single structured string.</a:t>
            </a:r>
            <a:endParaRPr lang="en-US"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Handling Sparsity: </a:t>
            </a:r>
            <a:r>
              <a:rPr lang="en-US" altLang="en-US" sz="2000" dirty="0">
                <a:latin typeface="Times New Roman" panose="02020603050405020304" pitchFamily="18" charset="0"/>
                <a:cs typeface="Times New Roman" panose="02020603050405020304" pitchFamily="18" charset="0"/>
              </a:rPr>
              <a:t>Simulated real-world sparse text situations with minimal metadata.</a:t>
            </a:r>
            <a:endParaRPr lang="en-US"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Tokenization: </a:t>
            </a:r>
            <a:r>
              <a:rPr lang="en-US" altLang="en-US" sz="2000" dirty="0">
                <a:latin typeface="Times New Roman" panose="02020603050405020304" pitchFamily="18" charset="0"/>
                <a:cs typeface="Times New Roman" panose="02020603050405020304" pitchFamily="18" charset="0"/>
              </a:rPr>
              <a:t>Applied FLAN-T5 and </a:t>
            </a:r>
            <a:r>
              <a:rPr lang="en-US" altLang="en-US" sz="2000" dirty="0">
                <a:latin typeface="Times New Roman" panose="02020603050405020304" pitchFamily="18" charset="0"/>
                <a:cs typeface="Times New Roman" panose="02020603050405020304" pitchFamily="18" charset="0"/>
              </a:rPr>
              <a:t>BART tokenizers for model-specific encoding.</a:t>
            </a:r>
            <a:endParaRPr lang="en-US"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Data Split: </a:t>
            </a:r>
            <a:r>
              <a:rPr lang="en-US" altLang="en-US" sz="2000" dirty="0">
                <a:latin typeface="Times New Roman" panose="02020603050405020304" pitchFamily="18" charset="0"/>
                <a:cs typeface="Times New Roman" panose="02020603050405020304" pitchFamily="18" charset="0"/>
              </a:rPr>
              <a:t>Divided dataset into 80% training and </a:t>
            </a:r>
            <a:r>
              <a:rPr lang="en-US" altLang="en-US" sz="2000" dirty="0">
                <a:latin typeface="Times New Roman" panose="02020603050405020304" pitchFamily="18" charset="0"/>
                <a:cs typeface="Times New Roman" panose="02020603050405020304" pitchFamily="18" charset="0"/>
              </a:rPr>
              <a:t>20% testing while maintaining genre distribution.</a:t>
            </a: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cs typeface="Times New Roman" panose="02020603050405020304" pitchFamily="18" charset="0"/>
              </a:rPr>
              <a:t>3. FLAN-T5 Model : </a:t>
            </a:r>
            <a:endParaRPr lang="en-US" altLang="en-US"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000" dirty="0">
                <a:latin typeface="Times New Roman" panose="02020603050405020304" pitchFamily="18" charset="0"/>
                <a:ea typeface="Arial" panose="020B0604020202020204"/>
                <a:sym typeface="+mn-ea"/>
              </a:rPr>
              <a:t>FLAN-T5 generates </a:t>
            </a:r>
            <a:r>
              <a:rPr lang="en-US" altLang="en-US" sz="2000" dirty="0">
                <a:latin typeface="Times New Roman" panose="02020603050405020304" pitchFamily="18" charset="0"/>
                <a:ea typeface="Arial" panose="020B0604020202020204"/>
                <a:sym typeface="+mn-ea"/>
              </a:rPr>
              <a:t>movie summaries from textual data.</a:t>
            </a:r>
            <a:endParaRPr lang="en-US" altLang="en-US" sz="2000" dirty="0">
              <a:latin typeface="Times New Roman" panose="02020603050405020304" pitchFamily="18" charset="0"/>
              <a:ea typeface="Arial" panose="020B0604020202020204"/>
              <a:sym typeface="+mn-ea"/>
            </a:endParaRPr>
          </a:p>
          <a:p>
            <a:pPr>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Instruction-tuned transformer model that follows prompts effectively.</a:t>
            </a:r>
            <a:endParaRPr lang="en-US"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Provides semantic-rich text</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to improve genre classification accuracy.</a:t>
            </a:r>
            <a:endParaRPr lang="en-US"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Works well </a:t>
            </a:r>
            <a:r>
              <a:rPr lang="en-US" altLang="en-US" sz="2000" dirty="0">
                <a:latin typeface="Times New Roman" panose="02020603050405020304" pitchFamily="18" charset="0"/>
                <a:cs typeface="Times New Roman" panose="02020603050405020304" pitchFamily="18" charset="0"/>
              </a:rPr>
              <a:t>without fine-tuning, using a text-to-text generative approach.</a:t>
            </a: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AB4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4" name="TextBox 13"/>
          <p:cNvSpPr txBox="1"/>
          <p:nvPr/>
        </p:nvSpPr>
        <p:spPr>
          <a:xfrm>
            <a:off x="84455" y="733425"/>
            <a:ext cx="6508115" cy="602615"/>
          </a:xfrm>
          <a:prstGeom prst="rect">
            <a:avLst/>
          </a:prstGeom>
          <a:noFill/>
        </p:spPr>
        <p:txBody>
          <a:bodyPr wrap="square">
            <a:noAutofit/>
          </a:bodyPr>
          <a:lstStyle/>
          <a:p>
            <a:r>
              <a:rPr lang="en-US" altLang="en-US" sz="2800" b="1"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2. Data Preprocessing:</a:t>
            </a:r>
            <a:endParaRPr lang="en-I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2      Batch No. AB4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0" name="Title 1"/>
          <p:cNvSpPr txBox="1"/>
          <p:nvPr/>
        </p:nvSpPr>
        <p:spPr>
          <a:xfrm>
            <a:off x="2460408" y="-627227"/>
            <a:ext cx="10515600" cy="6635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Data Set</a:t>
            </a:r>
            <a:endParaRPr lang="en-IN" sz="2400" b="1" dirty="0">
              <a:latin typeface="Times New Roman" panose="02020603050405020304" pitchFamily="18" charset="0"/>
              <a:cs typeface="Times New Roman" panose="02020603050405020304" pitchFamily="18" charset="0"/>
            </a:endParaRPr>
          </a:p>
        </p:txBody>
      </p:sp>
      <p:sp>
        <p:nvSpPr>
          <p:cNvPr id="2" name="Title 1"/>
          <p:cNvSpPr txBox="1"/>
          <p:nvPr/>
        </p:nvSpPr>
        <p:spPr>
          <a:xfrm>
            <a:off x="101082" y="561796"/>
            <a:ext cx="10515600" cy="68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txBox="1"/>
          <p:nvPr/>
        </p:nvSpPr>
        <p:spPr>
          <a:xfrm>
            <a:off x="652780" y="814705"/>
            <a:ext cx="10701020" cy="52514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en-IN" sz="2400" b="1" dirty="0">
                <a:latin typeface="Times New Roman" panose="02020603050405020304" pitchFamily="18" charset="0"/>
                <a:cs typeface="Times New Roman" panose="02020603050405020304" pitchFamily="18" charset="0"/>
              </a:rPr>
              <a:t>4. BART Model :</a:t>
            </a:r>
            <a:endParaRPr lang="en-US" altLang="en-IN" sz="2400" b="1" dirty="0">
              <a:latin typeface="Times New Roman" panose="02020603050405020304" pitchFamily="18" charset="0"/>
              <a:cs typeface="Times New Roman" panose="02020603050405020304" pitchFamily="18" charset="0"/>
            </a:endParaRPr>
          </a:p>
          <a:p>
            <a:pPr>
              <a:lnSpc>
                <a:spcPct val="100000"/>
              </a:lnSpc>
              <a:buClrTx/>
              <a:buFont typeface="Wingdings" panose="05000000000000000000" charset="0"/>
              <a:buChar char="ü"/>
            </a:pPr>
            <a:r>
              <a:rPr lang="en-US" altLang="en-US" sz="2000" dirty="0">
                <a:latin typeface="Times New Roman" panose="02020603050405020304" pitchFamily="18" charset="0"/>
                <a:ea typeface="Arial" panose="020B0604020202020204"/>
                <a:sym typeface="+mn-ea"/>
              </a:rPr>
              <a:t>BART performs </a:t>
            </a:r>
            <a:r>
              <a:rPr lang="en-US" altLang="en-US" sz="2000" dirty="0">
                <a:latin typeface="Times New Roman" panose="02020603050405020304" pitchFamily="18" charset="0"/>
                <a:ea typeface="Arial" panose="020B0604020202020204"/>
                <a:sym typeface="+mn-ea"/>
              </a:rPr>
              <a:t>zero-shot genre classification on generated summaries.</a:t>
            </a:r>
            <a:endParaRPr lang="en-US" altLang="en-US" sz="2000" dirty="0">
              <a:latin typeface="Times New Roman" panose="02020603050405020304" pitchFamily="18" charset="0"/>
              <a:ea typeface="Arial" panose="020B0604020202020204"/>
              <a:sym typeface="+mn-ea"/>
            </a:endParaRPr>
          </a:p>
          <a:p>
            <a:pPr>
              <a:lnSpc>
                <a:spcPct val="100000"/>
              </a:lnSpc>
              <a:buClrTx/>
              <a:buFont typeface="Wingdings" panose="05000000000000000000" charset="0"/>
              <a:buChar char="ü"/>
            </a:pPr>
            <a:r>
              <a:rPr lang="en-US" altLang="en-US" sz="2000" dirty="0">
                <a:latin typeface="Times New Roman" panose="02020603050405020304" pitchFamily="18" charset="0"/>
                <a:cs typeface="Times New Roman" panose="02020603050405020304" pitchFamily="18" charset="0"/>
              </a:rPr>
              <a:t>A transformer-based </a:t>
            </a:r>
            <a:r>
              <a:rPr lang="en-US" altLang="en-US" sz="2000" dirty="0">
                <a:latin typeface="Times New Roman" panose="02020603050405020304" pitchFamily="18" charset="0"/>
                <a:cs typeface="Times New Roman" panose="02020603050405020304" pitchFamily="18" charset="0"/>
              </a:rPr>
              <a:t>denoising autoencoder designed for sequence classification tasks.</a:t>
            </a:r>
            <a:endParaRPr lang="en-US" altLang="en-US" sz="2000" dirty="0">
              <a:latin typeface="Times New Roman" panose="02020603050405020304" pitchFamily="18" charset="0"/>
              <a:cs typeface="Times New Roman" panose="02020603050405020304" pitchFamily="18" charset="0"/>
            </a:endParaRPr>
          </a:p>
          <a:p>
            <a:pPr>
              <a:lnSpc>
                <a:spcPct val="100000"/>
              </a:lnSpc>
              <a:buClrTx/>
              <a:buFont typeface="Wingdings" panose="05000000000000000000" charset="0"/>
              <a:buChar char="ü"/>
            </a:pPr>
            <a:r>
              <a:rPr lang="en-US" altLang="en-US" sz="2000" dirty="0">
                <a:latin typeface="Times New Roman" panose="02020603050405020304" pitchFamily="18" charset="0"/>
                <a:cs typeface="Times New Roman" panose="02020603050405020304" pitchFamily="18" charset="0"/>
              </a:rPr>
              <a:t>Used in this study for </a:t>
            </a:r>
            <a:r>
              <a:rPr lang="en-US" altLang="en-US" sz="2000" dirty="0">
                <a:latin typeface="Times New Roman" panose="02020603050405020304" pitchFamily="18" charset="0"/>
                <a:cs typeface="Times New Roman" panose="02020603050405020304" pitchFamily="18" charset="0"/>
              </a:rPr>
              <a:t>zero-shot genre classification without any fine-tuning.</a:t>
            </a:r>
            <a:endParaRPr lang="en-US" altLang="en-US" sz="2000" dirty="0">
              <a:latin typeface="Times New Roman" panose="02020603050405020304" pitchFamily="18" charset="0"/>
              <a:cs typeface="Times New Roman" panose="02020603050405020304" pitchFamily="18" charset="0"/>
            </a:endParaRPr>
          </a:p>
          <a:p>
            <a:pPr>
              <a:lnSpc>
                <a:spcPct val="100000"/>
              </a:lnSpc>
              <a:buClrTx/>
              <a:buFont typeface="Wingdings" panose="05000000000000000000" charset="0"/>
              <a:buChar char="ü"/>
            </a:pPr>
            <a:r>
              <a:rPr lang="en-US" altLang="en-US" sz="2000" dirty="0">
                <a:latin typeface="Times New Roman" panose="02020603050405020304" pitchFamily="18" charset="0"/>
                <a:cs typeface="Times New Roman" panose="02020603050405020304" pitchFamily="18" charset="0"/>
              </a:rPr>
              <a:t>Compares movie summaries with </a:t>
            </a:r>
            <a:r>
              <a:rPr lang="en-US" altLang="en-US" sz="2000" dirty="0">
                <a:latin typeface="Times New Roman" panose="02020603050405020304" pitchFamily="18" charset="0"/>
                <a:cs typeface="Times New Roman" panose="02020603050405020304" pitchFamily="18" charset="0"/>
              </a:rPr>
              <a:t>candidate genre labels and selects the most likely genres.</a:t>
            </a:r>
            <a:endParaRPr lang="en-US" altLang="en-US" sz="2000" dirty="0">
              <a:latin typeface="Times New Roman" panose="02020603050405020304" pitchFamily="18" charset="0"/>
              <a:cs typeface="Times New Roman" panose="02020603050405020304" pitchFamily="18" charset="0"/>
            </a:endParaRPr>
          </a:p>
          <a:p>
            <a:pPr>
              <a:lnSpc>
                <a:spcPct val="100000"/>
              </a:lnSpc>
              <a:buClrTx/>
              <a:buFont typeface="Wingdings" panose="05000000000000000000" charset="0"/>
              <a:buChar char="ü"/>
            </a:pPr>
            <a:r>
              <a:rPr lang="en-US" altLang="en-US" sz="2000" dirty="0">
                <a:latin typeface="Times New Roman" panose="02020603050405020304" pitchFamily="18" charset="0"/>
                <a:cs typeface="Times New Roman" panose="02020603050405020304" pitchFamily="18" charset="0"/>
              </a:rPr>
              <a:t>Effective for </a:t>
            </a:r>
            <a:r>
              <a:rPr lang="en-US" altLang="en-US" sz="2000" dirty="0">
                <a:latin typeface="Times New Roman" panose="02020603050405020304" pitchFamily="18" charset="0"/>
                <a:cs typeface="Times New Roman" panose="02020603050405020304" pitchFamily="18" charset="0"/>
              </a:rPr>
              <a:t>generalization and handling sparse textual inputs.</a:t>
            </a:r>
            <a:endParaRPr lang="en-US" altLang="en-US" sz="2000" dirty="0">
              <a:latin typeface="Times New Roman" panose="02020603050405020304" pitchFamily="18" charset="0"/>
              <a:cs typeface="Times New Roman" panose="02020603050405020304" pitchFamily="18" charset="0"/>
            </a:endParaRPr>
          </a:p>
          <a:p>
            <a:pPr marL="0" indent="0">
              <a:lnSpc>
                <a:spcPct val="100000"/>
              </a:lnSpc>
              <a:buClrTx/>
              <a:buFont typeface="Wingdings" panose="05000000000000000000" charset="0"/>
              <a:buNone/>
            </a:pPr>
            <a:r>
              <a:rPr lang="en-US" altLang="en-US" sz="2400" b="1" dirty="0">
                <a:latin typeface="Times New Roman" panose="02020603050405020304" pitchFamily="18" charset="0"/>
                <a:cs typeface="Times New Roman" panose="02020603050405020304" pitchFamily="18" charset="0"/>
              </a:rPr>
              <a:t>5. Genre Prediction:</a:t>
            </a:r>
            <a:endParaRPr lang="en-US" altLang="en-US" sz="2400" b="1" dirty="0">
              <a:latin typeface="Times New Roman" panose="02020603050405020304" pitchFamily="18" charset="0"/>
              <a:cs typeface="Times New Roman" panose="02020603050405020304" pitchFamily="18" charset="0"/>
            </a:endParaRPr>
          </a:p>
          <a:p>
            <a:pPr>
              <a:lnSpc>
                <a:spcPct val="100000"/>
              </a:lnSpc>
              <a:buClrTx/>
              <a:buFont typeface="Wingdings" panose="05000000000000000000" charset="0"/>
              <a:buChar char="ü"/>
            </a:pPr>
            <a:r>
              <a:rPr lang="en-US" altLang="en-US" sz="2000" dirty="0">
                <a:latin typeface="Times New Roman" panose="02020603050405020304" pitchFamily="18" charset="0"/>
                <a:cs typeface="Times New Roman" panose="02020603050405020304" pitchFamily="18" charset="0"/>
              </a:rPr>
              <a:t>Movie summaries generated by FLAN-T5 are used as input for predicting genres.</a:t>
            </a:r>
            <a:endParaRPr lang="en-US" altLang="en-US" sz="2000" dirty="0">
              <a:latin typeface="Times New Roman" panose="02020603050405020304" pitchFamily="18" charset="0"/>
              <a:cs typeface="Times New Roman" panose="02020603050405020304" pitchFamily="18" charset="0"/>
            </a:endParaRPr>
          </a:p>
          <a:p>
            <a:pPr>
              <a:lnSpc>
                <a:spcPct val="100000"/>
              </a:lnSpc>
              <a:buClrTx/>
              <a:buFont typeface="Wingdings" panose="05000000000000000000" charset="0"/>
              <a:buChar char="ü"/>
            </a:pPr>
            <a:r>
              <a:rPr lang="en-US" altLang="en-US" sz="2000" dirty="0">
                <a:latin typeface="Times New Roman" panose="02020603050405020304" pitchFamily="18" charset="0"/>
                <a:cs typeface="Times New Roman" panose="02020603050405020304" pitchFamily="18" charset="0"/>
              </a:rPr>
              <a:t>BART performs zero-shot multi-label classification</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to identify the most likely genres.</a:t>
            </a:r>
            <a:endParaRPr lang="en-US" altLang="en-US" sz="2000" dirty="0">
              <a:latin typeface="Times New Roman" panose="02020603050405020304" pitchFamily="18" charset="0"/>
              <a:cs typeface="Times New Roman" panose="02020603050405020304" pitchFamily="18" charset="0"/>
            </a:endParaRPr>
          </a:p>
          <a:p>
            <a:pPr>
              <a:lnSpc>
                <a:spcPct val="100000"/>
              </a:lnSpc>
              <a:buClrTx/>
              <a:buFont typeface="Wingdings" panose="05000000000000000000" charset="0"/>
              <a:buChar char="ü"/>
            </a:pPr>
            <a:r>
              <a:rPr lang="en-US" altLang="en-US" sz="2000" dirty="0">
                <a:latin typeface="Times New Roman" panose="02020603050405020304" pitchFamily="18" charset="0"/>
                <a:cs typeface="Times New Roman" panose="02020603050405020304" pitchFamily="18" charset="0"/>
              </a:rPr>
              <a:t>Each movie can be assigned multiple genres</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(e.g., Drama, Comedy, Thriller).</a:t>
            </a:r>
            <a:endParaRPr lang="en-US" altLang="en-US" sz="2000" dirty="0">
              <a:latin typeface="Times New Roman" panose="02020603050405020304" pitchFamily="18" charset="0"/>
              <a:cs typeface="Times New Roman" panose="02020603050405020304" pitchFamily="18" charset="0"/>
            </a:endParaRPr>
          </a:p>
          <a:p>
            <a:pPr>
              <a:lnSpc>
                <a:spcPct val="100000"/>
              </a:lnSpc>
              <a:buClrTx/>
              <a:buFont typeface="Wingdings" panose="05000000000000000000" charset="0"/>
              <a:buChar char="ü"/>
            </a:pPr>
            <a:r>
              <a:rPr lang="en-US" altLang="en-US" sz="2000" dirty="0">
                <a:latin typeface="Times New Roman" panose="02020603050405020304" pitchFamily="18" charset="0"/>
                <a:cs typeface="Times New Roman" panose="02020603050405020304" pitchFamily="18" charset="0"/>
              </a:rPr>
              <a:t>Predictions are evaluated using </a:t>
            </a:r>
            <a:r>
              <a:rPr lang="en-US" altLang="en-US" sz="2000" dirty="0">
                <a:latin typeface="Times New Roman" panose="02020603050405020304" pitchFamily="18" charset="0"/>
                <a:cs typeface="Times New Roman" panose="02020603050405020304" pitchFamily="18" charset="0"/>
              </a:rPr>
              <a:t>accuracy, precision, recall, and F1-score to measure performance.</a:t>
            </a:r>
            <a:endParaRPr lang="en-US" altLang="en-US" sz="2000" dirty="0">
              <a:latin typeface="Times New Roman" panose="02020603050405020304" pitchFamily="18" charset="0"/>
              <a:cs typeface="Times New Roman" panose="02020603050405020304" pitchFamily="18" charset="0"/>
            </a:endParaRPr>
          </a:p>
          <a:p>
            <a:pPr marL="0" indent="0">
              <a:lnSpc>
                <a:spcPct val="100000"/>
              </a:lnSpc>
              <a:buClrTx/>
              <a:buFont typeface="Wingdings" panose="05000000000000000000" charset="0"/>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2      Batch No. AB4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2" name="Content Placeholder 2"/>
          <p:cNvSpPr txBox="1"/>
          <p:nvPr/>
        </p:nvSpPr>
        <p:spPr>
          <a:xfrm>
            <a:off x="651163" y="547543"/>
            <a:ext cx="10515600" cy="57909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en-IN" sz="2400" b="1" dirty="0">
                <a:latin typeface="Times New Roman" panose="02020603050405020304" pitchFamily="18" charset="0"/>
                <a:cs typeface="Times New Roman" panose="02020603050405020304" pitchFamily="18" charset="0"/>
              </a:rPr>
              <a:t>6. </a:t>
            </a:r>
            <a:r>
              <a:rPr lang="en-US" altLang="en-IN" sz="2400" b="1" dirty="0">
                <a:latin typeface="Times New Roman" panose="02020603050405020304" pitchFamily="18" charset="0"/>
                <a:cs typeface="Times New Roman" panose="02020603050405020304" pitchFamily="18" charset="0"/>
              </a:rPr>
              <a:t>Evaluation:</a:t>
            </a:r>
            <a:r>
              <a:rPr lang="en-US" altLang="en-IN" sz="2000" dirty="0">
                <a:latin typeface="Times New Roman" panose="02020603050405020304" pitchFamily="18" charset="0"/>
                <a:cs typeface="Times New Roman" panose="02020603050405020304" pitchFamily="18" charset="0"/>
              </a:rPr>
              <a:t> </a:t>
            </a:r>
            <a:endParaRPr lang="en-US" altLang="en-IN" sz="2000"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Model performance measured using </a:t>
            </a:r>
            <a:r>
              <a:rPr lang="en-US" altLang="en-US" sz="2000" dirty="0">
                <a:latin typeface="Times New Roman" panose="02020603050405020304" pitchFamily="18" charset="0"/>
                <a:cs typeface="Times New Roman" panose="02020603050405020304" pitchFamily="18" charset="0"/>
              </a:rPr>
              <a:t>Accuracy, Precision, Recall, and F1-Score.</a:t>
            </a:r>
            <a:endParaRPr lang="en-US" altLang="en-US" sz="2000"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FLAN-T5 achieved</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higher scores compared to BART across all metrics.</a:t>
            </a:r>
            <a:endParaRPr lang="en-US" altLang="en-US" sz="2000"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Evaluation compared predicted genres with </a:t>
            </a:r>
            <a:r>
              <a:rPr lang="en-US" altLang="en-US" sz="2000" dirty="0">
                <a:latin typeface="Times New Roman" panose="02020603050405020304" pitchFamily="18" charset="0"/>
                <a:cs typeface="Times New Roman" panose="02020603050405020304" pitchFamily="18" charset="0"/>
              </a:rPr>
              <a:t>ground-truth labels from MovieLens-100K.</a:t>
            </a:r>
            <a:endParaRPr lang="en-US" altLang="en-US" sz="2000"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Demonstrates effectiveness of summary-based classification</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for sparse text data.</a:t>
            </a:r>
            <a:endParaRPr lang="en-US" altLang="en-US" sz="2000" dirty="0">
              <a:latin typeface="Times New Roman" panose="02020603050405020304" pitchFamily="18" charset="0"/>
              <a:cs typeface="Times New Roman" panose="02020603050405020304" pitchFamily="18" charset="0"/>
            </a:endParaRPr>
          </a:p>
          <a:p>
            <a:pPr marL="0" indent="0">
              <a:lnSpc>
                <a:spcPct val="100000"/>
              </a:lnSpc>
              <a:buFont typeface="Arial" panose="020B0604020202020204" pitchFamily="34" charset="0"/>
              <a:buNone/>
            </a:pPr>
            <a:r>
              <a:rPr lang="en-US" altLang="en-US" sz="2400" b="1" dirty="0">
                <a:latin typeface="Times New Roman" panose="02020603050405020304" pitchFamily="18" charset="0"/>
                <a:cs typeface="Times New Roman" panose="02020603050405020304" pitchFamily="18" charset="0"/>
              </a:rPr>
              <a:t>7. LIME Explainability:</a:t>
            </a:r>
            <a:r>
              <a:rPr lang="en-US" altLang="en-US" sz="2000" b="1" dirty="0">
                <a:latin typeface="Times New Roman" panose="02020603050405020304" pitchFamily="18" charset="0"/>
                <a:cs typeface="Times New Roman" panose="02020603050405020304" pitchFamily="18" charset="0"/>
              </a:rPr>
              <a:t> </a:t>
            </a:r>
            <a:endParaRPr lang="en-US" altLang="en-US" sz="2400" b="1" dirty="0">
              <a:latin typeface="Times New Roman" panose="02020603050405020304" pitchFamily="18" charset="0"/>
              <a:cs typeface="Times New Roman" panose="02020603050405020304" pitchFamily="18" charset="0"/>
            </a:endParaRPr>
          </a:p>
          <a:p>
            <a:pPr>
              <a:lnSpc>
                <a:spcPct val="100000"/>
              </a:lnSpc>
            </a:pPr>
            <a:r>
              <a:rPr lang="en-US" altLang="en-US" sz="2000" dirty="0">
                <a:latin typeface="Times New Roman" panose="02020603050405020304" pitchFamily="18" charset="0"/>
                <a:cs typeface="Times New Roman" panose="02020603050405020304" pitchFamily="18" charset="0"/>
              </a:rPr>
              <a:t>LIME (Local Interpretable Model-Agnostic Explanations) explains </a:t>
            </a:r>
            <a:r>
              <a:rPr lang="en-US" altLang="en-US" sz="2000" dirty="0">
                <a:latin typeface="Times New Roman" panose="02020603050405020304" pitchFamily="18" charset="0"/>
                <a:cs typeface="Times New Roman" panose="02020603050405020304" pitchFamily="18" charset="0"/>
              </a:rPr>
              <a:t>why a model predicted certain genres.</a:t>
            </a:r>
            <a:endParaRPr lang="en-US" altLang="en-US" sz="2000" dirty="0">
              <a:latin typeface="Times New Roman" panose="02020603050405020304" pitchFamily="18" charset="0"/>
              <a:cs typeface="Times New Roman" panose="02020603050405020304" pitchFamily="18" charset="0"/>
            </a:endParaRPr>
          </a:p>
          <a:p>
            <a:pPr>
              <a:lnSpc>
                <a:spcPct val="100000"/>
              </a:lnSpc>
            </a:pPr>
            <a:r>
              <a:rPr lang="en-US" altLang="en-US" sz="2000" dirty="0">
                <a:latin typeface="Times New Roman" panose="02020603050405020304" pitchFamily="18" charset="0"/>
                <a:ea typeface="Arial" panose="020B0604020202020204"/>
                <a:sym typeface="+mn-ea"/>
              </a:rPr>
              <a:t>LIME provides explanations for model predictions to ensure transparency.</a:t>
            </a:r>
            <a:endParaRPr lang="en-US" altLang="en-US" sz="2000" dirty="0">
              <a:latin typeface="Times New Roman" panose="02020603050405020304" pitchFamily="18" charset="0"/>
              <a:ea typeface="Arial" panose="020B0604020202020204"/>
            </a:endParaRPr>
          </a:p>
          <a:p>
            <a:pPr>
              <a:lnSpc>
                <a:spcPct val="100000"/>
              </a:lnSpc>
            </a:pPr>
            <a:r>
              <a:rPr lang="en-US" altLang="en-US" sz="2000" dirty="0">
                <a:latin typeface="Times New Roman" panose="02020603050405020304" pitchFamily="18" charset="0"/>
                <a:cs typeface="Times New Roman" panose="02020603050405020304" pitchFamily="18" charset="0"/>
              </a:rPr>
              <a:t>Identifies important words and phrases</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in the movie summary that influenced the prediction.</a:t>
            </a:r>
            <a:endParaRPr lang="en-US" altLang="en-US" sz="2000" dirty="0">
              <a:latin typeface="Times New Roman" panose="02020603050405020304" pitchFamily="18" charset="0"/>
              <a:cs typeface="Times New Roman" panose="02020603050405020304" pitchFamily="18" charset="0"/>
            </a:endParaRPr>
          </a:p>
          <a:p>
            <a:pPr>
              <a:lnSpc>
                <a:spcPct val="100000"/>
              </a:lnSpc>
            </a:pPr>
            <a:r>
              <a:rPr lang="en-US" altLang="en-US" sz="2000" dirty="0">
                <a:latin typeface="Times New Roman" panose="02020603050405020304" pitchFamily="18" charset="0"/>
                <a:cs typeface="Times New Roman" panose="02020603050405020304" pitchFamily="18" charset="0"/>
              </a:rPr>
              <a:t>Helps improve </a:t>
            </a:r>
            <a:r>
              <a:rPr lang="en-US" altLang="en-US" sz="2000" dirty="0">
                <a:latin typeface="Times New Roman" panose="02020603050405020304" pitchFamily="18" charset="0"/>
                <a:cs typeface="Times New Roman" panose="02020603050405020304" pitchFamily="18" charset="0"/>
              </a:rPr>
              <a:t>transparency and trust in genre classification results.</a:t>
            </a:r>
            <a:endParaRPr lang="en-US" altLang="en-US" sz="2000" dirty="0">
              <a:latin typeface="Times New Roman" panose="02020603050405020304" pitchFamily="18" charset="0"/>
              <a:cs typeface="Times New Roman" panose="02020603050405020304" pitchFamily="18" charset="0"/>
            </a:endParaRPr>
          </a:p>
          <a:p>
            <a:pPr>
              <a:lnSpc>
                <a:spcPct val="100000"/>
              </a:lnSpc>
            </a:pPr>
            <a:r>
              <a:rPr lang="en-US" altLang="en-US" sz="2000" dirty="0">
                <a:latin typeface="Times New Roman" panose="02020603050405020304" pitchFamily="18" charset="0"/>
                <a:cs typeface="Times New Roman" panose="02020603050405020304" pitchFamily="18" charset="0"/>
              </a:rPr>
              <a:t>Shows how models like</a:t>
            </a:r>
            <a:r>
              <a:rPr lang="en-US" altLang="en-US" sz="2000" dirty="0">
                <a:latin typeface="Times New Roman" panose="02020603050405020304" pitchFamily="18" charset="0"/>
                <a:cs typeface="Times New Roman" panose="02020603050405020304" pitchFamily="18" charset="0"/>
              </a:rPr>
              <a:t> FLAN-T5</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and</a:t>
            </a:r>
            <a:r>
              <a:rPr lang="en-US" altLang="en-US" sz="2000" dirty="0">
                <a:latin typeface="Times New Roman" panose="02020603050405020304" pitchFamily="18" charset="0"/>
                <a:cs typeface="Times New Roman" panose="02020603050405020304" pitchFamily="18" charset="0"/>
              </a:rPr>
              <a:t> BART rely on meaningful semantic cues (e.g., “crime,” “romantic”, “detective”).</a:t>
            </a:r>
            <a:endParaRPr lang="en-US" altLang="en-US" sz="2000" dirty="0">
              <a:latin typeface="Times New Roman" panose="02020603050405020304" pitchFamily="18" charset="0"/>
              <a:cs typeface="Times New Roman" panose="02020603050405020304" pitchFamily="18" charset="0"/>
            </a:endParaRPr>
          </a:p>
          <a:p>
            <a:pPr marL="0" indent="0">
              <a:lnSpc>
                <a:spcPct val="100000"/>
              </a:lnSpc>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2      Batch No. AB4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0" name="Title 1"/>
          <p:cNvSpPr txBox="1"/>
          <p:nvPr/>
        </p:nvSpPr>
        <p:spPr>
          <a:xfrm>
            <a:off x="2460408" y="-627227"/>
            <a:ext cx="10515600" cy="6635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Data Set</a:t>
            </a:r>
            <a:endParaRPr lang="en-IN" sz="2400" b="1" dirty="0">
              <a:latin typeface="Times New Roman" panose="02020603050405020304" pitchFamily="18" charset="0"/>
              <a:cs typeface="Times New Roman" panose="02020603050405020304" pitchFamily="18" charset="0"/>
            </a:endParaRPr>
          </a:p>
        </p:txBody>
      </p:sp>
      <p:sp>
        <p:nvSpPr>
          <p:cNvPr id="12" name="Content Placeholder 2"/>
          <p:cNvSpPr txBox="1"/>
          <p:nvPr/>
        </p:nvSpPr>
        <p:spPr>
          <a:xfrm>
            <a:off x="651163" y="547543"/>
            <a:ext cx="10515600" cy="57909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endParaRPr lang="en-US" sz="2400" b="1" dirty="0">
              <a:latin typeface="Times New Roman" panose="02020603050405020304" pitchFamily="18" charset="0"/>
              <a:cs typeface="Times New Roman" panose="02020603050405020304" pitchFamily="18" charset="0"/>
              <a:sym typeface="+mn-ea"/>
            </a:endParaRPr>
          </a:p>
          <a:p>
            <a:pPr marL="0" indent="0">
              <a:lnSpc>
                <a:spcPct val="100000"/>
              </a:lnSpc>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sym typeface="+mn-ea"/>
              </a:rPr>
              <a:t>Movie Recommendation System Web Application Integration:</a:t>
            </a:r>
            <a:endParaRPr lang="en-US" sz="2400" b="1" dirty="0">
              <a:latin typeface="Times New Roman" panose="02020603050405020304" pitchFamily="18" charset="0"/>
              <a:cs typeface="Times New Roman" panose="02020603050405020304" pitchFamily="18" charset="0"/>
              <a:sym typeface="+mn-ea"/>
            </a:endParaRPr>
          </a:p>
          <a:p>
            <a:pPr marL="0" indent="0">
              <a:lnSpc>
                <a:spcPct val="150000"/>
              </a:lnSpc>
              <a:buFont typeface="Arial" panose="020B0604020202020204" pitchFamily="34" charset="0"/>
              <a:buNone/>
            </a:pPr>
            <a:r>
              <a:rPr lang="en-US" sz="2000" b="1" dirty="0">
                <a:latin typeface="Times New Roman" panose="02020603050405020304" pitchFamily="18" charset="0"/>
                <a:cs typeface="Times New Roman" panose="02020603050405020304" pitchFamily="18" charset="0"/>
                <a:sym typeface="+mn-ea"/>
              </a:rPr>
              <a:t>Technologies Used:</a:t>
            </a:r>
            <a:endParaRPr lang="en-US" sz="2000" b="1"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r>
              <a:rPr lang="en-US" sz="2000" b="1" dirty="0">
                <a:latin typeface="Times New Roman" panose="02020603050405020304" pitchFamily="18" charset="0"/>
                <a:cs typeface="Times New Roman" panose="02020603050405020304" pitchFamily="18" charset="0"/>
                <a:sym typeface="+mn-ea"/>
              </a:rPr>
              <a:t>Frontend</a:t>
            </a:r>
            <a:r>
              <a:rPr lang="en-US" sz="2000" dirty="0">
                <a:latin typeface="Times New Roman" panose="02020603050405020304" pitchFamily="18" charset="0"/>
                <a:cs typeface="Times New Roman" panose="02020603050405020304" pitchFamily="18" charset="0"/>
                <a:sym typeface="+mn-ea"/>
              </a:rPr>
              <a:t>: HTML, CSS, JavaScript (User interface for input and display)</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r>
              <a:rPr lang="en-US" sz="2000" b="1" dirty="0">
                <a:latin typeface="Times New Roman" panose="02020603050405020304" pitchFamily="18" charset="0"/>
                <a:cs typeface="Times New Roman" panose="02020603050405020304" pitchFamily="18" charset="0"/>
                <a:sym typeface="+mn-ea"/>
              </a:rPr>
              <a:t>Backend</a:t>
            </a:r>
            <a:r>
              <a:rPr lang="en-US" sz="2000" dirty="0">
                <a:latin typeface="Times New Roman" panose="02020603050405020304" pitchFamily="18" charset="0"/>
                <a:cs typeface="Times New Roman" panose="02020603050405020304" pitchFamily="18" charset="0"/>
                <a:sym typeface="+mn-ea"/>
              </a:rPr>
              <a:t>: Flask/Django (Handling model integration and data processing)</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r>
              <a:rPr lang="en-US" sz="2000" b="1" dirty="0">
                <a:latin typeface="Times New Roman" panose="02020603050405020304" pitchFamily="18" charset="0"/>
                <a:cs typeface="Times New Roman" panose="02020603050405020304" pitchFamily="18" charset="0"/>
                <a:sym typeface="+mn-ea"/>
              </a:rPr>
              <a:t>Deep Learning</a:t>
            </a:r>
            <a:r>
              <a:rPr lang="en-US" sz="2000" dirty="0">
                <a:latin typeface="Times New Roman" panose="02020603050405020304" pitchFamily="18" charset="0"/>
                <a:cs typeface="Times New Roman" panose="02020603050405020304" pitchFamily="18" charset="0"/>
                <a:sym typeface="+mn-ea"/>
              </a:rPr>
              <a:t>: FLAN-T5, BART (Prediction models)</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r>
              <a:rPr lang="en-US" sz="2000" b="1" dirty="0">
                <a:latin typeface="Times New Roman" panose="02020603050405020304" pitchFamily="18" charset="0"/>
                <a:cs typeface="Times New Roman" panose="02020603050405020304" pitchFamily="18" charset="0"/>
                <a:sym typeface="+mn-ea"/>
              </a:rPr>
              <a:t>Interpretability Tools</a:t>
            </a:r>
            <a:r>
              <a:rPr lang="en-US" sz="2000" dirty="0">
                <a:latin typeface="Times New Roman" panose="02020603050405020304" pitchFamily="18" charset="0"/>
                <a:cs typeface="Times New Roman" panose="02020603050405020304" pitchFamily="18" charset="0"/>
                <a:sym typeface="+mn-ea"/>
              </a:rPr>
              <a:t>:  LIME (Explaining predictions)</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sz="2000" b="1"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IN" sz="2400" b="1"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2      Batch No. AB4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0" name="Title 1"/>
          <p:cNvSpPr txBox="1"/>
          <p:nvPr/>
        </p:nvSpPr>
        <p:spPr>
          <a:xfrm>
            <a:off x="2460408" y="-627227"/>
            <a:ext cx="10515600" cy="6635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Data Set</a:t>
            </a:r>
            <a:endParaRPr lang="en-IN" sz="2400" b="1" dirty="0">
              <a:latin typeface="Times New Roman" panose="02020603050405020304" pitchFamily="18" charset="0"/>
              <a:cs typeface="Times New Roman" panose="02020603050405020304" pitchFamily="18" charset="0"/>
            </a:endParaRPr>
          </a:p>
        </p:txBody>
      </p:sp>
      <p:sp>
        <p:nvSpPr>
          <p:cNvPr id="12" name="Content Placeholder 2"/>
          <p:cNvSpPr txBox="1"/>
          <p:nvPr/>
        </p:nvSpPr>
        <p:spPr>
          <a:xfrm>
            <a:off x="651163" y="547543"/>
            <a:ext cx="10515600" cy="57909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p:txBody>
      </p:sp>
      <p:pic>
        <p:nvPicPr>
          <p:cNvPr id="2" name="Picture 1" descr="Screenshot (50)"/>
          <p:cNvPicPr>
            <a:picLocks noChangeAspect="1"/>
          </p:cNvPicPr>
          <p:nvPr/>
        </p:nvPicPr>
        <p:blipFill>
          <a:blip r:embed="rId1"/>
          <a:stretch>
            <a:fillRect/>
          </a:stretch>
        </p:blipFill>
        <p:spPr>
          <a:xfrm>
            <a:off x="650875" y="675640"/>
            <a:ext cx="5010150" cy="4862830"/>
          </a:xfrm>
          <a:prstGeom prst="rect">
            <a:avLst/>
          </a:prstGeom>
        </p:spPr>
      </p:pic>
      <p:pic>
        <p:nvPicPr>
          <p:cNvPr id="3" name="Picture 2" descr="Screenshot (51)"/>
          <p:cNvPicPr>
            <a:picLocks noChangeAspect="1"/>
          </p:cNvPicPr>
          <p:nvPr/>
        </p:nvPicPr>
        <p:blipFill>
          <a:blip r:embed="rId2"/>
          <a:stretch>
            <a:fillRect/>
          </a:stretch>
        </p:blipFill>
        <p:spPr>
          <a:xfrm>
            <a:off x="6314440" y="355600"/>
            <a:ext cx="5039360" cy="3486150"/>
          </a:xfrm>
          <a:prstGeom prst="rect">
            <a:avLst/>
          </a:prstGeom>
        </p:spPr>
      </p:pic>
      <p:pic>
        <p:nvPicPr>
          <p:cNvPr id="4" name="Picture 3" descr="Screenshot (53)"/>
          <p:cNvPicPr>
            <a:picLocks noChangeAspect="1"/>
          </p:cNvPicPr>
          <p:nvPr/>
        </p:nvPicPr>
        <p:blipFill>
          <a:blip r:embed="rId3"/>
          <a:stretch>
            <a:fillRect/>
          </a:stretch>
        </p:blipFill>
        <p:spPr>
          <a:xfrm>
            <a:off x="5078730" y="4161790"/>
            <a:ext cx="6088380" cy="20866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5375" y="681037"/>
            <a:ext cx="10515600" cy="703587"/>
          </a:xfrm>
        </p:spPr>
        <p:txBody>
          <a:bodyPr>
            <a:noAutofit/>
          </a:bodyPr>
          <a:lstStyle/>
          <a:p>
            <a:r>
              <a:rPr lang="en-US" b="1" dirty="0">
                <a:latin typeface="Times New Roman" panose="02020603050405020304" pitchFamily="18" charset="0"/>
                <a:cs typeface="Times New Roman" panose="02020603050405020304" pitchFamily="18" charset="0"/>
              </a:rPr>
              <a:t>IMPLEMENTATION</a:t>
            </a:r>
            <a:br>
              <a:rPr lang="en-IN" b="1" dirty="0">
                <a:latin typeface="Times New Roman" panose="02020603050405020304" pitchFamily="18" charset="0"/>
                <a:cs typeface="Times New Roman" panose="02020603050405020304" pitchFamily="18" charset="0"/>
              </a:rPr>
            </a:br>
            <a:endParaRPr lang="en-IN" b="1" dirty="0"/>
          </a:p>
        </p:txBody>
      </p:sp>
      <p:sp>
        <p:nvSpPr>
          <p:cNvPr id="3" name="Content Placeholder 2"/>
          <p:cNvSpPr>
            <a:spLocks noGrp="1"/>
          </p:cNvSpPr>
          <p:nvPr>
            <p:ph idx="1"/>
          </p:nvPr>
        </p:nvSpPr>
        <p:spPr>
          <a:xfrm>
            <a:off x="838200" y="1075690"/>
            <a:ext cx="10515600" cy="5281295"/>
          </a:xfrm>
        </p:spPr>
        <p:txBody>
          <a:bodyPr>
            <a:noAutofit/>
          </a:bodyPr>
          <a:lstStyle/>
          <a:p>
            <a:pPr marL="355600" indent="-342900">
              <a:lnSpc>
                <a:spcPct val="100000"/>
              </a:lnSpc>
              <a:spcBef>
                <a:spcPts val="1515"/>
              </a:spcBef>
              <a:buFont typeface="Wingdings" panose="05000000000000000000" charset="0"/>
              <a:buChar char="Ø"/>
              <a:tabLst>
                <a:tab pos="241300" algn="l"/>
              </a:tabLst>
            </a:pPr>
            <a:r>
              <a:rPr lang="en-US" altLang="en-US" sz="2000" spc="-10" dirty="0">
                <a:latin typeface="Times New Roman" panose="02020603050405020304" pitchFamily="18" charset="0"/>
                <a:cs typeface="Times New Roman" panose="02020603050405020304" pitchFamily="18" charset="0"/>
              </a:rPr>
              <a:t>The system is implemented using Hugging Face Transformers</a:t>
            </a:r>
            <a:r>
              <a:rPr lang="en-US" altLang="en-US" sz="2000" b="1" spc="-10" dirty="0">
                <a:latin typeface="Times New Roman" panose="02020603050405020304" pitchFamily="18" charset="0"/>
                <a:cs typeface="Times New Roman" panose="02020603050405020304" pitchFamily="18" charset="0"/>
              </a:rPr>
              <a:t> </a:t>
            </a:r>
            <a:r>
              <a:rPr lang="en-US" altLang="en-US" sz="2000" spc="-10" dirty="0">
                <a:latin typeface="Times New Roman" panose="02020603050405020304" pitchFamily="18" charset="0"/>
                <a:cs typeface="Times New Roman" panose="02020603050405020304" pitchFamily="18" charset="0"/>
              </a:rPr>
              <a:t>in Python.</a:t>
            </a:r>
            <a:endParaRPr lang="en-US" altLang="en-US" sz="2000" spc="-10" dirty="0">
              <a:latin typeface="Times New Roman" panose="02020603050405020304" pitchFamily="18" charset="0"/>
              <a:cs typeface="Times New Roman" panose="02020603050405020304" pitchFamily="18" charset="0"/>
            </a:endParaRPr>
          </a:p>
          <a:p>
            <a:pPr marL="355600" indent="-342900">
              <a:lnSpc>
                <a:spcPct val="100000"/>
              </a:lnSpc>
              <a:spcBef>
                <a:spcPts val="1515"/>
              </a:spcBef>
              <a:buFont typeface="Wingdings" panose="05000000000000000000" charset="0"/>
              <a:buChar char="Ø"/>
              <a:tabLst>
                <a:tab pos="241300" algn="l"/>
              </a:tabLst>
            </a:pPr>
            <a:r>
              <a:rPr lang="en-US" altLang="en-US" sz="2000" spc="-10" dirty="0">
                <a:latin typeface="Times New Roman" panose="02020603050405020304" pitchFamily="18" charset="0"/>
                <a:cs typeface="Times New Roman" panose="02020603050405020304" pitchFamily="18" charset="0"/>
              </a:rPr>
              <a:t>MovieLens-100K dataset is loaded and preprocessed (cleaning, merging text, tokenization).</a:t>
            </a:r>
            <a:endParaRPr lang="en-US" altLang="en-US" sz="2000" spc="-10" dirty="0">
              <a:latin typeface="Times New Roman" panose="02020603050405020304" pitchFamily="18" charset="0"/>
              <a:cs typeface="Times New Roman" panose="02020603050405020304" pitchFamily="18" charset="0"/>
            </a:endParaRPr>
          </a:p>
          <a:p>
            <a:pPr marL="355600" indent="-342900">
              <a:lnSpc>
                <a:spcPct val="100000"/>
              </a:lnSpc>
              <a:spcBef>
                <a:spcPts val="1515"/>
              </a:spcBef>
              <a:buFont typeface="Wingdings" panose="05000000000000000000" charset="0"/>
              <a:buChar char="Ø"/>
              <a:tabLst>
                <a:tab pos="241300" algn="l"/>
              </a:tabLst>
            </a:pPr>
            <a:r>
              <a:rPr lang="en-US" altLang="en-US" sz="2000" spc="-10" dirty="0">
                <a:latin typeface="Times New Roman" panose="02020603050405020304" pitchFamily="18" charset="0"/>
                <a:cs typeface="Times New Roman" panose="02020603050405020304" pitchFamily="18" charset="0"/>
              </a:rPr>
              <a:t>FLAN-T5</a:t>
            </a:r>
            <a:r>
              <a:rPr lang="en-US" altLang="en-US" sz="2000" b="1" spc="-10" dirty="0">
                <a:latin typeface="Times New Roman" panose="02020603050405020304" pitchFamily="18" charset="0"/>
                <a:cs typeface="Times New Roman" panose="02020603050405020304" pitchFamily="18" charset="0"/>
              </a:rPr>
              <a:t> </a:t>
            </a:r>
            <a:r>
              <a:rPr lang="en-US" altLang="en-US" sz="2000" spc="-10" dirty="0">
                <a:latin typeface="Times New Roman" panose="02020603050405020304" pitchFamily="18" charset="0"/>
                <a:cs typeface="Times New Roman" panose="02020603050405020304" pitchFamily="18" charset="0"/>
              </a:rPr>
              <a:t>generates movie summaries to enrich sparse metadata.</a:t>
            </a:r>
            <a:endParaRPr lang="en-US" altLang="en-US" sz="2000" spc="-10" dirty="0">
              <a:latin typeface="Times New Roman" panose="02020603050405020304" pitchFamily="18" charset="0"/>
              <a:cs typeface="Times New Roman" panose="02020603050405020304" pitchFamily="18" charset="0"/>
            </a:endParaRPr>
          </a:p>
          <a:p>
            <a:pPr marL="355600" indent="-342900">
              <a:lnSpc>
                <a:spcPct val="100000"/>
              </a:lnSpc>
              <a:spcBef>
                <a:spcPts val="1515"/>
              </a:spcBef>
              <a:buFont typeface="Wingdings" panose="05000000000000000000" charset="0"/>
              <a:buChar char="Ø"/>
              <a:tabLst>
                <a:tab pos="241300" algn="l"/>
              </a:tabLst>
            </a:pPr>
            <a:r>
              <a:rPr lang="en-US" altLang="en-US" sz="2000" spc="-10" dirty="0">
                <a:latin typeface="Times New Roman" panose="02020603050405020304" pitchFamily="18" charset="0"/>
                <a:cs typeface="Times New Roman" panose="02020603050405020304" pitchFamily="18" charset="0"/>
              </a:rPr>
              <a:t>BART (bart-large-mnli) is used for zero-shot multi-label genre prediction.</a:t>
            </a:r>
            <a:endParaRPr lang="en-US" altLang="en-US" sz="1900" spc="-10" dirty="0">
              <a:latin typeface="Times New Roman" panose="02020603050405020304" pitchFamily="18" charset="0"/>
              <a:cs typeface="Times New Roman" panose="02020603050405020304" pitchFamily="18" charset="0"/>
            </a:endParaRPr>
          </a:p>
          <a:p>
            <a:pPr marL="12700" indent="0">
              <a:lnSpc>
                <a:spcPct val="100000"/>
              </a:lnSpc>
              <a:spcBef>
                <a:spcPts val="1515"/>
              </a:spcBef>
              <a:buNone/>
              <a:tabLst>
                <a:tab pos="241300" algn="l"/>
              </a:tabLst>
            </a:pPr>
            <a:r>
              <a:rPr lang="en-IN" sz="2000" b="1" u="sng" spc="-10" dirty="0">
                <a:latin typeface="Times New Roman" panose="02020603050405020304" pitchFamily="18" charset="0"/>
                <a:cs typeface="Times New Roman" panose="02020603050405020304" pitchFamily="18" charset="0"/>
              </a:rPr>
              <a:t>Software</a:t>
            </a:r>
            <a:r>
              <a:rPr lang="en-IN" sz="2000" b="1" u="sng" spc="-20" dirty="0">
                <a:latin typeface="Times New Roman" panose="02020603050405020304" pitchFamily="18" charset="0"/>
                <a:cs typeface="Times New Roman" panose="02020603050405020304" pitchFamily="18" charset="0"/>
              </a:rPr>
              <a:t> </a:t>
            </a:r>
            <a:r>
              <a:rPr lang="en-IN" sz="2000" b="1" u="sng" dirty="0">
                <a:latin typeface="Times New Roman" panose="02020603050405020304" pitchFamily="18" charset="0"/>
                <a:cs typeface="Times New Roman" panose="02020603050405020304" pitchFamily="18" charset="0"/>
              </a:rPr>
              <a:t>Specifications:</a:t>
            </a:r>
            <a:endParaRPr lang="en-IN" sz="2000" b="1" u="sng" dirty="0">
              <a:latin typeface="Times New Roman" panose="02020603050405020304" pitchFamily="18" charset="0"/>
              <a:cs typeface="Times New Roman" panose="02020603050405020304" pitchFamily="18" charset="0"/>
            </a:endParaRPr>
          </a:p>
          <a:p>
            <a:pPr marL="736600" lvl="1">
              <a:lnSpc>
                <a:spcPct val="100000"/>
              </a:lnSpc>
              <a:spcBef>
                <a:spcPts val="1170"/>
              </a:spcBef>
            </a:pPr>
            <a:r>
              <a:rPr lang="en-IN" sz="2000" b="0" spc="-15" dirty="0">
                <a:latin typeface="Times New Roman" panose="02020603050405020304" pitchFamily="18" charset="0"/>
                <a:cs typeface="Times New Roman" panose="02020603050405020304" pitchFamily="18" charset="0"/>
              </a:rPr>
              <a:t>Browser:</a:t>
            </a:r>
            <a:r>
              <a:rPr lang="en-IN" sz="2000" b="0" spc="-25" dirty="0">
                <a:latin typeface="Times New Roman" panose="02020603050405020304" pitchFamily="18" charset="0"/>
                <a:cs typeface="Times New Roman" panose="02020603050405020304" pitchFamily="18" charset="0"/>
              </a:rPr>
              <a:t> </a:t>
            </a:r>
            <a:r>
              <a:rPr lang="en-IN" sz="2000" b="0" spc="-10" dirty="0">
                <a:latin typeface="Times New Roman" panose="02020603050405020304" pitchFamily="18" charset="0"/>
                <a:cs typeface="Times New Roman" panose="02020603050405020304" pitchFamily="18" charset="0"/>
              </a:rPr>
              <a:t>Chrome</a:t>
            </a:r>
            <a:endParaRPr lang="en-IN" sz="2000" dirty="0">
              <a:latin typeface="Times New Roman" panose="02020603050405020304" pitchFamily="18" charset="0"/>
              <a:cs typeface="Times New Roman" panose="02020603050405020304" pitchFamily="18" charset="0"/>
            </a:endParaRPr>
          </a:p>
          <a:p>
            <a:pPr marL="736600" marR="6290310" lvl="1">
              <a:lnSpc>
                <a:spcPct val="126000"/>
              </a:lnSpc>
              <a:spcBef>
                <a:spcPts val="45"/>
              </a:spcBef>
            </a:pPr>
            <a:r>
              <a:rPr lang="en-IN" sz="2000" b="0" spc="-10" dirty="0">
                <a:latin typeface="Times New Roman" panose="02020603050405020304" pitchFamily="18" charset="0"/>
                <a:cs typeface="Times New Roman" panose="02020603050405020304" pitchFamily="18" charset="0"/>
              </a:rPr>
              <a:t>Operating </a:t>
            </a:r>
            <a:r>
              <a:rPr lang="en-IN" sz="2000" b="0" spc="-15" dirty="0">
                <a:latin typeface="Times New Roman" panose="02020603050405020304" pitchFamily="18" charset="0"/>
                <a:cs typeface="Times New Roman" panose="02020603050405020304" pitchFamily="18" charset="0"/>
              </a:rPr>
              <a:t>System: </a:t>
            </a:r>
            <a:r>
              <a:rPr lang="en-IN" sz="2000" b="0" spc="-5" dirty="0">
                <a:latin typeface="Times New Roman" panose="02020603050405020304" pitchFamily="18" charset="0"/>
                <a:cs typeface="Times New Roman" panose="02020603050405020304" pitchFamily="18" charset="0"/>
              </a:rPr>
              <a:t>Windows</a:t>
            </a:r>
            <a:r>
              <a:rPr lang="en-IN" sz="2000" b="0" dirty="0">
                <a:latin typeface="Times New Roman" panose="02020603050405020304" pitchFamily="18" charset="0"/>
                <a:cs typeface="Times New Roman" panose="02020603050405020304" pitchFamily="18" charset="0"/>
              </a:rPr>
              <a:t>1</a:t>
            </a:r>
            <a:r>
              <a:rPr lang="en-US" altLang="en-IN" sz="2000" b="0" dirty="0">
                <a:latin typeface="Times New Roman" panose="02020603050405020304" pitchFamily="18" charset="0"/>
                <a:cs typeface="Times New Roman" panose="02020603050405020304" pitchFamily="18" charset="0"/>
              </a:rPr>
              <a:t>0</a:t>
            </a:r>
            <a:endParaRPr lang="en-IN" sz="2000" b="0" dirty="0">
              <a:latin typeface="Times New Roman" panose="02020603050405020304" pitchFamily="18" charset="0"/>
              <a:cs typeface="Times New Roman" panose="02020603050405020304" pitchFamily="18" charset="0"/>
            </a:endParaRPr>
          </a:p>
          <a:p>
            <a:pPr marL="736600" marR="6290310" lvl="1">
              <a:lnSpc>
                <a:spcPct val="126000"/>
              </a:lnSpc>
              <a:spcBef>
                <a:spcPts val="45"/>
              </a:spcBef>
            </a:pPr>
            <a:r>
              <a:rPr lang="en-IN" sz="2000" b="0" dirty="0">
                <a:latin typeface="Times New Roman" panose="02020603050405020304" pitchFamily="18" charset="0"/>
                <a:cs typeface="Times New Roman" panose="02020603050405020304" pitchFamily="18" charset="0"/>
              </a:rPr>
              <a:t>Python</a:t>
            </a:r>
            <a:r>
              <a:rPr lang="en-IN" sz="2000" b="0" spc="-5" dirty="0">
                <a:latin typeface="Times New Roman" panose="02020603050405020304" pitchFamily="18" charset="0"/>
                <a:cs typeface="Times New Roman" panose="02020603050405020304" pitchFamily="18" charset="0"/>
              </a:rPr>
              <a:t> </a:t>
            </a:r>
            <a:r>
              <a:rPr lang="en-IN" sz="2000" b="0" spc="-10" dirty="0">
                <a:latin typeface="Times New Roman" panose="02020603050405020304" pitchFamily="18" charset="0"/>
                <a:cs typeface="Times New Roman" panose="02020603050405020304" pitchFamily="18" charset="0"/>
              </a:rPr>
              <a:t>(COLAB)</a:t>
            </a:r>
            <a:endParaRPr lang="en-IN" sz="2000" dirty="0">
              <a:latin typeface="Times New Roman" panose="02020603050405020304" pitchFamily="18" charset="0"/>
              <a:cs typeface="Times New Roman" panose="02020603050405020304" pitchFamily="18" charset="0"/>
            </a:endParaRPr>
          </a:p>
          <a:p>
            <a:pPr marL="762635" lvl="1">
              <a:lnSpc>
                <a:spcPct val="100000"/>
              </a:lnSpc>
              <a:spcBef>
                <a:spcPts val="790"/>
              </a:spcBef>
            </a:pPr>
            <a:r>
              <a:rPr lang="en-IN" sz="2000" b="0" dirty="0">
                <a:latin typeface="Times New Roman" panose="02020603050405020304" pitchFamily="18" charset="0"/>
                <a:cs typeface="Times New Roman" panose="02020603050405020304" pitchFamily="18" charset="0"/>
              </a:rPr>
              <a:t>Flask</a:t>
            </a:r>
            <a:endParaRPr lang="en-IN" sz="2000" dirty="0">
              <a:latin typeface="Times New Roman" panose="02020603050405020304" pitchFamily="18" charset="0"/>
              <a:cs typeface="Times New Roman" panose="02020603050405020304" pitchFamily="18" charset="0"/>
            </a:endParaRPr>
          </a:p>
          <a:p>
            <a:pPr marL="12700" indent="0">
              <a:lnSpc>
                <a:spcPct val="100000"/>
              </a:lnSpc>
              <a:spcBef>
                <a:spcPts val="685"/>
              </a:spcBef>
              <a:buNone/>
              <a:tabLst>
                <a:tab pos="241300" algn="l"/>
              </a:tabLst>
            </a:pPr>
            <a:r>
              <a:rPr lang="en-IN" sz="2000" b="1" u="sng" spc="-5" dirty="0">
                <a:latin typeface="Times New Roman" panose="02020603050405020304" pitchFamily="18" charset="0"/>
                <a:cs typeface="Times New Roman" panose="02020603050405020304" pitchFamily="18" charset="0"/>
              </a:rPr>
              <a:t>Hardware</a:t>
            </a:r>
            <a:r>
              <a:rPr lang="en-IN" sz="2000" b="1" u="sng" spc="-50" dirty="0">
                <a:latin typeface="Times New Roman" panose="02020603050405020304" pitchFamily="18" charset="0"/>
                <a:cs typeface="Times New Roman" panose="02020603050405020304" pitchFamily="18" charset="0"/>
              </a:rPr>
              <a:t> </a:t>
            </a:r>
            <a:r>
              <a:rPr lang="en-IN" sz="2000" b="1" u="sng" dirty="0">
                <a:latin typeface="Times New Roman" panose="02020603050405020304" pitchFamily="18" charset="0"/>
                <a:cs typeface="Times New Roman" panose="02020603050405020304" pitchFamily="18" charset="0"/>
              </a:rPr>
              <a:t>Specifications:</a:t>
            </a:r>
            <a:endParaRPr lang="en-IN" sz="2000" b="1" u="sng" dirty="0">
              <a:latin typeface="Times New Roman" panose="02020603050405020304" pitchFamily="18" charset="0"/>
              <a:cs typeface="Times New Roman" panose="02020603050405020304" pitchFamily="18" charset="0"/>
            </a:endParaRPr>
          </a:p>
          <a:p>
            <a:pPr marL="686435" marR="5815330" indent="-342900">
              <a:lnSpc>
                <a:spcPct val="126000"/>
              </a:lnSpc>
              <a:spcBef>
                <a:spcPts val="255"/>
              </a:spcBef>
            </a:pPr>
            <a:r>
              <a:rPr lang="en-IN" sz="2000" b="0" spc="-10" dirty="0">
                <a:latin typeface="Times New Roman" panose="02020603050405020304" pitchFamily="18" charset="0"/>
                <a:cs typeface="Times New Roman" panose="02020603050405020304" pitchFamily="18" charset="0"/>
              </a:rPr>
              <a:t>Processor: </a:t>
            </a:r>
            <a:r>
              <a:rPr lang="en-US" altLang="en-US" sz="2000" b="0" spc="-15" dirty="0">
                <a:latin typeface="Times New Roman" panose="02020603050405020304" pitchFamily="18" charset="0"/>
                <a:cs typeface="Times New Roman" panose="02020603050405020304" pitchFamily="18" charset="0"/>
              </a:rPr>
              <a:t>Intel i5, 8GB RAM</a:t>
            </a:r>
            <a:endParaRPr lang="en-US" altLang="en-US" sz="2000" b="0" spc="-15" dirty="0">
              <a:latin typeface="Times New Roman" panose="02020603050405020304" pitchFamily="18" charset="0"/>
              <a:cs typeface="Times New Roman" panose="02020603050405020304" pitchFamily="18" charset="0"/>
            </a:endParaRPr>
          </a:p>
          <a:p>
            <a:pPr marL="0" indent="0">
              <a:buNone/>
            </a:pPr>
            <a:endParaRPr lang="en-US" altLang="en-US" sz="2000" b="0" spc="-15"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IN"/>
          </a:p>
        </p:txBody>
      </p:sp>
      <p:sp>
        <p:nvSpPr>
          <p:cNvPr id="5" name="Footer Placeholder 4"/>
          <p:cNvSpPr>
            <a:spLocks noGrp="1"/>
          </p:cNvSpPr>
          <p:nvPr>
            <p:ph type="ftr" sz="quarter" idx="11"/>
          </p:nvPr>
        </p:nvSpPr>
        <p:spPr/>
        <p:txBody>
          <a:bodyPr/>
          <a:lstStyle/>
          <a:p>
            <a:r>
              <a:rPr lang="en-US"/>
              <a:t>Review No. 2        Batch No. AB4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5375" y="681037"/>
            <a:ext cx="10515600" cy="703587"/>
          </a:xfrm>
        </p:spPr>
        <p:txBody>
          <a:bodyPr>
            <a:noAutofit/>
          </a:bodyPr>
          <a:lstStyle/>
          <a:p>
            <a:r>
              <a:rPr lang="en-US" b="1" dirty="0">
                <a:latin typeface="Times New Roman" panose="02020603050405020304" pitchFamily="18" charset="0"/>
                <a:cs typeface="Times New Roman" panose="02020603050405020304" pitchFamily="18" charset="0"/>
              </a:rPr>
              <a:t>IMPLEMENTATION</a:t>
            </a:r>
            <a:br>
              <a:rPr lang="en-IN" b="1" dirty="0">
                <a:latin typeface="Times New Roman" panose="02020603050405020304" pitchFamily="18" charset="0"/>
                <a:cs typeface="Times New Roman" panose="02020603050405020304" pitchFamily="18" charset="0"/>
              </a:rPr>
            </a:br>
            <a:endParaRPr lang="en-IN" b="1" dirty="0"/>
          </a:p>
        </p:txBody>
      </p:sp>
      <p:sp>
        <p:nvSpPr>
          <p:cNvPr id="4" name="Date Placeholder 3"/>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IN"/>
          </a:p>
        </p:txBody>
      </p:sp>
      <p:sp>
        <p:nvSpPr>
          <p:cNvPr id="5" name="Footer Placeholder 4"/>
          <p:cNvSpPr>
            <a:spLocks noGrp="1"/>
          </p:cNvSpPr>
          <p:nvPr>
            <p:ph type="ftr" sz="quarter" idx="11"/>
          </p:nvPr>
        </p:nvSpPr>
        <p:spPr/>
        <p:txBody>
          <a:bodyPr/>
          <a:lstStyle/>
          <a:p>
            <a:r>
              <a:rPr lang="en-US" dirty="0"/>
              <a:t>Review No. 2        Batch No.   AB4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dirty="0"/>
          </a:p>
        </p:txBody>
      </p:sp>
      <p:pic>
        <p:nvPicPr>
          <p:cNvPr id="7" name="Picture 6" descr="Screenshot (40)(1)"/>
          <p:cNvPicPr>
            <a:picLocks noChangeAspect="1"/>
          </p:cNvPicPr>
          <p:nvPr/>
        </p:nvPicPr>
        <p:blipFill>
          <a:blip r:embed="rId1"/>
          <a:stretch>
            <a:fillRect/>
          </a:stretch>
        </p:blipFill>
        <p:spPr>
          <a:xfrm>
            <a:off x="744855" y="1241425"/>
            <a:ext cx="5078730" cy="4603115"/>
          </a:xfrm>
          <a:prstGeom prst="rect">
            <a:avLst/>
          </a:prstGeom>
        </p:spPr>
      </p:pic>
      <p:pic>
        <p:nvPicPr>
          <p:cNvPr id="9" name="Picture 8" descr="Screenshot (41)(1)"/>
          <p:cNvPicPr>
            <a:picLocks noChangeAspect="1"/>
          </p:cNvPicPr>
          <p:nvPr/>
        </p:nvPicPr>
        <p:blipFill>
          <a:blip r:embed="rId2"/>
          <a:stretch>
            <a:fillRect/>
          </a:stretch>
        </p:blipFill>
        <p:spPr>
          <a:xfrm>
            <a:off x="6294755" y="1241425"/>
            <a:ext cx="5256530" cy="4603115"/>
          </a:xfrm>
          <a:prstGeom prst="rect">
            <a:avLst/>
          </a:prstGeom>
        </p:spPr>
      </p:pic>
      <p:sp>
        <p:nvSpPr>
          <p:cNvPr id="13" name="Text Box 12"/>
          <p:cNvSpPr txBox="1"/>
          <p:nvPr/>
        </p:nvSpPr>
        <p:spPr>
          <a:xfrm>
            <a:off x="1252220" y="5988050"/>
            <a:ext cx="4064000" cy="398780"/>
          </a:xfrm>
          <a:prstGeom prst="rect">
            <a:avLst/>
          </a:prstGeom>
          <a:noFill/>
        </p:spPr>
        <p:txBody>
          <a:bodyPr wrap="square" rtlCol="0">
            <a:spAutoFit/>
          </a:bodyPr>
          <a:p>
            <a:r>
              <a:rPr lang="en-US" sz="2000" b="1">
                <a:latin typeface="Times New Roman" panose="02020603050405020304" pitchFamily="18" charset="0"/>
                <a:cs typeface="Times New Roman" panose="02020603050405020304" pitchFamily="18" charset="0"/>
              </a:rPr>
              <a:t>                  FLAN-T5 Model</a:t>
            </a:r>
            <a:endParaRPr lang="en-US" sz="2000" b="1">
              <a:latin typeface="Times New Roman" panose="02020603050405020304" pitchFamily="18" charset="0"/>
              <a:cs typeface="Times New Roman" panose="02020603050405020304" pitchFamily="18" charset="0"/>
            </a:endParaRPr>
          </a:p>
        </p:txBody>
      </p:sp>
      <p:sp>
        <p:nvSpPr>
          <p:cNvPr id="15" name="Text Box 14"/>
          <p:cNvSpPr txBox="1"/>
          <p:nvPr/>
        </p:nvSpPr>
        <p:spPr>
          <a:xfrm>
            <a:off x="7840345" y="5978525"/>
            <a:ext cx="4478655" cy="398780"/>
          </a:xfrm>
          <a:prstGeom prst="rect">
            <a:avLst/>
          </a:prstGeom>
          <a:noFill/>
        </p:spPr>
        <p:txBody>
          <a:bodyPr wrap="square" rtlCol="0">
            <a:spAutoFit/>
          </a:bodyPr>
          <a:p>
            <a:r>
              <a:rPr lang="en-US" sz="2000" b="1">
                <a:latin typeface="Times New Roman" panose="02020603050405020304" pitchFamily="18" charset="0"/>
                <a:cs typeface="Times New Roman" panose="02020603050405020304" pitchFamily="18" charset="0"/>
              </a:rPr>
              <a:t>BART Model</a:t>
            </a:r>
            <a:endParaRPr lang="en-US" sz="2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RESULTS &amp; ANALYSIS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356995"/>
            <a:ext cx="10515600" cy="4648200"/>
          </a:xfrm>
        </p:spPr>
        <p:txBody>
          <a:bodyPr>
            <a:normAutofit/>
          </a:bodyPr>
          <a:lstStyle/>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 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1" name="Text Box 10"/>
          <p:cNvSpPr txBox="1"/>
          <p:nvPr/>
        </p:nvSpPr>
        <p:spPr>
          <a:xfrm>
            <a:off x="1017270" y="1245235"/>
            <a:ext cx="9998710" cy="4575810"/>
          </a:xfrm>
          <a:prstGeom prst="rect">
            <a:avLst/>
          </a:prstGeom>
          <a:noFill/>
        </p:spPr>
        <p:txBody>
          <a:bodyPr wrap="square" rtlCol="0">
            <a:noAutofit/>
          </a:bodyPr>
          <a:p>
            <a:pPr marL="285750" indent="-285750">
              <a:buClrTx/>
              <a:buFont typeface="Wingdings" panose="05000000000000000000" charset="0"/>
              <a:buChar char="ü"/>
            </a:pPr>
            <a:r>
              <a:rPr lang="en-US" altLang="en-US" sz="2000" dirty="0">
                <a:latin typeface="Times New Roman" panose="02020603050405020304" pitchFamily="18" charset="0"/>
                <a:ea typeface="Arial" panose="020B0604020202020204"/>
                <a:cs typeface="Times New Roman" panose="02020603050405020304" pitchFamily="18" charset="0"/>
                <a:sym typeface="+mn-ea"/>
              </a:rPr>
              <a:t>FLAN-T5 generated meaningful and concise movie summaries.</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285750" indent="-285750">
              <a:buClrTx/>
              <a:buFont typeface="Wingdings" panose="05000000000000000000" charset="0"/>
              <a:buChar char="ü"/>
            </a:pPr>
            <a:r>
              <a:rPr lang="en-US" altLang="en-US" sz="2000" dirty="0">
                <a:latin typeface="Times New Roman" panose="02020603050405020304" pitchFamily="18" charset="0"/>
                <a:ea typeface="Arial" panose="020B0604020202020204"/>
                <a:cs typeface="Times New Roman" panose="02020603050405020304" pitchFamily="18" charset="0"/>
                <a:sym typeface="+mn-ea"/>
              </a:rPr>
              <a:t>BART achieved accurate multi-genre predictions using zero-shot learning.</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285750" indent="-285750">
              <a:buClrTx/>
              <a:buFont typeface="Wingdings" panose="05000000000000000000" charset="0"/>
              <a:buChar char="ü"/>
            </a:pPr>
            <a:r>
              <a:rPr lang="en-US" altLang="en-US" sz="2000" dirty="0">
                <a:latin typeface="Times New Roman" panose="02020603050405020304" pitchFamily="18" charset="0"/>
                <a:ea typeface="Arial" panose="020B0604020202020204"/>
                <a:cs typeface="Times New Roman" panose="02020603050405020304" pitchFamily="18" charset="0"/>
                <a:sym typeface="+mn-ea"/>
              </a:rPr>
              <a:t>FLAN-T5 </a:t>
            </a:r>
            <a:r>
              <a:rPr lang="en-US" altLang="en-US" sz="2000" dirty="0">
                <a:latin typeface="Times New Roman" panose="02020603050405020304" pitchFamily="18" charset="0"/>
                <a:ea typeface="Arial" panose="020B0604020202020204"/>
                <a:cs typeface="Times New Roman" panose="02020603050405020304" pitchFamily="18" charset="0"/>
                <a:sym typeface="+mn-ea"/>
              </a:rPr>
              <a:t>outperformed BART with higher precision, recall, and F1-score.</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285750" indent="-285750">
              <a:buClrTx/>
              <a:buFont typeface="Wingdings" panose="05000000000000000000" charset="0"/>
              <a:buChar char="ü"/>
            </a:pPr>
            <a:r>
              <a:rPr lang="en-US" altLang="en-US" sz="2000" dirty="0">
                <a:latin typeface="Times New Roman" panose="02020603050405020304" pitchFamily="18" charset="0"/>
                <a:ea typeface="Arial" panose="020B0604020202020204"/>
                <a:cs typeface="Times New Roman" panose="02020603050405020304" pitchFamily="18" charset="0"/>
                <a:sym typeface="+mn-ea"/>
              </a:rPr>
              <a:t>Top-5</a:t>
            </a:r>
            <a:r>
              <a:rPr lang="en-US" altLang="en-US" sz="2000" dirty="0">
                <a:latin typeface="Times New Roman" panose="02020603050405020304" pitchFamily="18" charset="0"/>
                <a:ea typeface="Arial" panose="020B0604020202020204"/>
                <a:cs typeface="Times New Roman" panose="02020603050405020304" pitchFamily="18" charset="0"/>
                <a:sym typeface="+mn-ea"/>
              </a:rPr>
              <a:t> movies identified by genre preference matched ground-truth data.</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285750" indent="-285750">
              <a:buClrTx/>
              <a:buFont typeface="Wingdings" panose="05000000000000000000" charset="0"/>
              <a:buChar char="ü"/>
            </a:pPr>
            <a:r>
              <a:rPr lang="en-US" altLang="en-US" sz="2000" b="1" dirty="0">
                <a:latin typeface="Times New Roman" panose="02020603050405020304" pitchFamily="18" charset="0"/>
                <a:ea typeface="Arial" panose="020B0604020202020204"/>
                <a:cs typeface="Times New Roman" panose="02020603050405020304" pitchFamily="18" charset="0"/>
                <a:sym typeface="+mn-ea"/>
              </a:rPr>
              <a:t>Genre-wise trends:</a:t>
            </a:r>
            <a:r>
              <a:rPr lang="en-US" altLang="en-US" sz="2000" dirty="0">
                <a:latin typeface="Times New Roman" panose="02020603050405020304" pitchFamily="18" charset="0"/>
                <a:ea typeface="Arial" panose="020B0604020202020204"/>
                <a:cs typeface="Times New Roman" panose="02020603050405020304" pitchFamily="18" charset="0"/>
                <a:sym typeface="+mn-ea"/>
              </a:rPr>
              <a:t> Drama, Horror, and Western appeared most frequently.</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285750" indent="-285750">
              <a:buClrTx/>
              <a:buFont typeface="Wingdings" panose="05000000000000000000" charset="0"/>
              <a:buChar char="ü"/>
            </a:pPr>
            <a:r>
              <a:rPr lang="en-US" altLang="en-US" sz="2000" dirty="0">
                <a:latin typeface="Times New Roman" panose="02020603050405020304" pitchFamily="18" charset="0"/>
                <a:ea typeface="Arial" panose="020B0604020202020204"/>
                <a:cs typeface="Times New Roman" panose="02020603050405020304" pitchFamily="18" charset="0"/>
                <a:sym typeface="+mn-ea"/>
              </a:rPr>
              <a:t>LIME explanations improved interpretability and user trust in recommendations.</a:t>
            </a:r>
            <a:endParaRPr lang="en-US" altLang="en-US" sz="2000" dirty="0">
              <a:latin typeface="Times New Roman" panose="02020603050405020304" pitchFamily="18" charset="0"/>
              <a:ea typeface="Arial" panose="020B0604020202020204"/>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pic>
        <p:nvPicPr>
          <p:cNvPr id="22540" name="Picture 2" descr="download"/>
          <p:cNvPicPr>
            <a:picLocks noChangeAspect="1"/>
          </p:cNvPicPr>
          <p:nvPr/>
        </p:nvPicPr>
        <p:blipFill>
          <a:blip r:embed="rId1"/>
          <a:stretch>
            <a:fillRect/>
          </a:stretch>
        </p:blipFill>
        <p:spPr>
          <a:xfrm>
            <a:off x="1254760" y="3276600"/>
            <a:ext cx="3599180" cy="2544445"/>
          </a:xfrm>
          <a:prstGeom prst="rect">
            <a:avLst/>
          </a:prstGeom>
          <a:noFill/>
          <a:ln w="9525">
            <a:noFill/>
          </a:ln>
        </p:spPr>
      </p:pic>
      <p:pic>
        <p:nvPicPr>
          <p:cNvPr id="15" name="Image 15"/>
          <p:cNvPicPr/>
          <p:nvPr/>
        </p:nvPicPr>
        <p:blipFill>
          <a:blip r:embed="rId2" cstate="print"/>
          <a:stretch>
            <a:fillRect/>
          </a:stretch>
        </p:blipFill>
        <p:spPr>
          <a:xfrm>
            <a:off x="5820410" y="3429000"/>
            <a:ext cx="4107815" cy="22948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RESULTS &amp; ANALYSIS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p:txBody>
          <a:bodyPr>
            <a:normAutofit/>
          </a:bodyPr>
          <a:lstStyle/>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2      Batch No.   AB4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5" name="TextBox 14"/>
          <p:cNvSpPr txBox="1"/>
          <p:nvPr>
            <p:custDataLst>
              <p:tags r:id="rId1"/>
            </p:custDataLst>
          </p:nvPr>
        </p:nvSpPr>
        <p:spPr>
          <a:xfrm>
            <a:off x="838200" y="5465445"/>
            <a:ext cx="4973320" cy="712470"/>
          </a:xfrm>
          <a:prstGeom prst="rect">
            <a:avLst/>
          </a:prstGeom>
          <a:noFill/>
        </p:spPr>
        <p:txBody>
          <a:bodyPr wrap="square">
            <a:noAutofit/>
          </a:bodyPr>
          <a:lstStyle/>
          <a:p>
            <a:pPr algn="just">
              <a:lnSpc>
                <a:spcPct val="115000"/>
              </a:lnSpc>
              <a:spcAft>
                <a:spcPts val="1000"/>
              </a:spcAft>
            </a:pPr>
            <a:r>
              <a:rPr lang="en-US" altLang="en-US" dirty="0">
                <a:effectLst/>
                <a:latin typeface="Times New Roman" panose="02020603050405020304" pitchFamily="18" charset="0"/>
                <a:ea typeface="Calibri" panose="020F0502020204030204" charset="0"/>
                <a:cs typeface="Times New Roman" panose="02020603050405020304" pitchFamily="18" charset="0"/>
              </a:rPr>
              <a:t>      Generated from Predicted   Movie Summaries</a:t>
            </a:r>
            <a:endParaRPr lang="en-US" altLang="en-US" dirty="0">
              <a:effectLst/>
              <a:latin typeface="Times New Roman" panose="02020603050405020304" pitchFamily="18" charset="0"/>
              <a:ea typeface="Calibri" panose="020F0502020204030204" charset="0"/>
              <a:cs typeface="Times New Roman" panose="02020603050405020304" pitchFamily="18" charset="0"/>
            </a:endParaRPr>
          </a:p>
        </p:txBody>
      </p:sp>
      <p:sp>
        <p:nvSpPr>
          <p:cNvPr id="17" name="TextBox 16"/>
          <p:cNvSpPr txBox="1"/>
          <p:nvPr>
            <p:custDataLst>
              <p:tags r:id="rId2"/>
            </p:custDataLst>
          </p:nvPr>
        </p:nvSpPr>
        <p:spPr>
          <a:xfrm>
            <a:off x="6369050" y="5465445"/>
            <a:ext cx="5222875" cy="494665"/>
          </a:xfrm>
          <a:prstGeom prst="rect">
            <a:avLst/>
          </a:prstGeom>
          <a:noFill/>
        </p:spPr>
        <p:txBody>
          <a:bodyPr wrap="square">
            <a:noAutofit/>
          </a:bodyPr>
          <a:lstStyle/>
          <a:p>
            <a:pPr algn="just">
              <a:lnSpc>
                <a:spcPct val="115000"/>
              </a:lnSpc>
              <a:spcAft>
                <a:spcPts val="1000"/>
              </a:spcAft>
            </a:pPr>
            <a:r>
              <a:rPr lang="en-US" altLang="en-US" dirty="0">
                <a:effectLst/>
                <a:latin typeface="Times New Roman" panose="02020603050405020304" pitchFamily="18" charset="0"/>
                <a:ea typeface="Calibri" panose="020F0502020204030204" charset="0"/>
                <a:cs typeface="Times New Roman" panose="02020603050405020304" pitchFamily="18" charset="0"/>
              </a:rPr>
              <a:t>Interface for Genre-Based Movie Recommendations</a:t>
            </a:r>
            <a:endParaRPr lang="en-US" altLang="en-US" dirty="0">
              <a:effectLst/>
              <a:latin typeface="Times New Roman" panose="02020603050405020304" pitchFamily="18" charset="0"/>
              <a:ea typeface="Calibri" panose="020F0502020204030204" charset="0"/>
              <a:cs typeface="Times New Roman" panose="02020603050405020304" pitchFamily="18" charset="0"/>
            </a:endParaRPr>
          </a:p>
        </p:txBody>
      </p:sp>
      <p:pic>
        <p:nvPicPr>
          <p:cNvPr id="2" name="Picture 1" descr="cloud"/>
          <p:cNvPicPr>
            <a:picLocks noChangeAspect="1"/>
          </p:cNvPicPr>
          <p:nvPr>
            <p:custDataLst>
              <p:tags r:id="rId3"/>
            </p:custDataLst>
          </p:nvPr>
        </p:nvPicPr>
        <p:blipFill>
          <a:blip r:embed="rId4"/>
          <a:stretch>
            <a:fillRect/>
          </a:stretch>
        </p:blipFill>
        <p:spPr>
          <a:xfrm>
            <a:off x="1021715" y="1242695"/>
            <a:ext cx="4790440" cy="4044950"/>
          </a:xfrm>
          <a:prstGeom prst="rect">
            <a:avLst/>
          </a:prstGeom>
        </p:spPr>
      </p:pic>
      <p:pic>
        <p:nvPicPr>
          <p:cNvPr id="22541" name="Picture 3" descr="movie2"/>
          <p:cNvPicPr>
            <a:picLocks noChangeAspect="1"/>
          </p:cNvPicPr>
          <p:nvPr>
            <p:custDataLst>
              <p:tags r:id="rId5"/>
            </p:custDataLst>
          </p:nvPr>
        </p:nvPicPr>
        <p:blipFill>
          <a:blip r:embed="rId6"/>
          <a:stretch>
            <a:fillRect/>
          </a:stretch>
        </p:blipFill>
        <p:spPr>
          <a:xfrm>
            <a:off x="6624320" y="1242695"/>
            <a:ext cx="4557395" cy="382714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37565" y="528955"/>
            <a:ext cx="10516235" cy="724535"/>
          </a:xfrm>
        </p:spPr>
        <p:txBody>
          <a:bodyPr/>
          <a:lstStyle/>
          <a:p>
            <a:pPr algn="l"/>
            <a:r>
              <a:rPr lang="en-US" altLang="en-US" sz="2400" b="1" dirty="0">
                <a:latin typeface="Times New Roman" panose="02020603050405020304" pitchFamily="18" charset="0"/>
                <a:ea typeface="Arial" panose="020B0604020202020204"/>
                <a:sym typeface="+mn-ea"/>
              </a:rPr>
              <a:t>Model Performance Evaluation:</a:t>
            </a:r>
            <a:endParaRPr lang="en-US" sz="2400"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735330" y="1132840"/>
            <a:ext cx="10515600" cy="2910840"/>
          </a:xfrm>
        </p:spPr>
        <p:txBody>
          <a:bodyPr>
            <a:noAutofit/>
          </a:bodyPr>
          <a:lstStyle/>
          <a:p>
            <a:pPr marL="285750" indent="-285750">
              <a:buClrTx/>
              <a:buFont typeface="Arial" panose="020B0604020202020204" pitchFamily="34" charset="0"/>
              <a:buChar char="•"/>
            </a:pPr>
            <a:r>
              <a:rPr lang="en-US" altLang="en-US" sz="2000" dirty="0">
                <a:latin typeface="Times New Roman" panose="02020603050405020304" pitchFamily="18" charset="0"/>
                <a:ea typeface="Arial" panose="020B0604020202020204"/>
                <a:sym typeface="+mn-ea"/>
              </a:rPr>
              <a:t>Both FLAN-T5 and BART models were evaluated using the MovieLens-100K </a:t>
            </a:r>
            <a:r>
              <a:rPr lang="en-US" altLang="en-US" sz="2000" dirty="0">
                <a:latin typeface="Times New Roman" panose="02020603050405020304" pitchFamily="18" charset="0"/>
                <a:ea typeface="Arial" panose="020B0604020202020204"/>
                <a:sym typeface="+mn-ea"/>
              </a:rPr>
              <a:t>dataset.</a:t>
            </a:r>
            <a:endParaRPr lang="en-US" altLang="en-US" sz="2000" dirty="0">
              <a:latin typeface="Times New Roman" panose="02020603050405020304" pitchFamily="18" charset="0"/>
              <a:ea typeface="Arial" panose="020B0604020202020204"/>
            </a:endParaRPr>
          </a:p>
          <a:p>
            <a:pPr marL="285750" indent="-285750">
              <a:buClrTx/>
              <a:buFont typeface="Arial" panose="020B0604020202020204" pitchFamily="34" charset="0"/>
              <a:buChar char="•"/>
            </a:pPr>
            <a:r>
              <a:rPr lang="en-US" altLang="en-US" sz="2000" dirty="0">
                <a:latin typeface="Times New Roman" panose="02020603050405020304" pitchFamily="18" charset="0"/>
                <a:ea typeface="Arial" panose="020B0604020202020204"/>
                <a:sym typeface="+mn-ea"/>
              </a:rPr>
              <a:t>FLAN-T5 outperformed BART in all metrics:</a:t>
            </a:r>
            <a:endParaRPr lang="en-US" altLang="en-US" sz="2000" dirty="0">
              <a:latin typeface="Times New Roman" panose="02020603050405020304" pitchFamily="18" charset="0"/>
              <a:ea typeface="Arial" panose="020B0604020202020204"/>
            </a:endParaRPr>
          </a:p>
          <a:p>
            <a:pPr marL="0" indent="0" algn="l">
              <a:buClrTx/>
              <a:buFont typeface="Arial" panose="020B0604020202020204" pitchFamily="34" charset="0"/>
              <a:buNone/>
            </a:pPr>
            <a:r>
              <a:rPr lang="en-US" altLang="en-US" sz="2000" b="1" dirty="0">
                <a:latin typeface="Times New Roman" panose="02020603050405020304" pitchFamily="18" charset="0"/>
                <a:ea typeface="Arial" panose="020B0604020202020204"/>
                <a:sym typeface="+mn-ea"/>
              </a:rPr>
              <a:t>               - Precision</a:t>
            </a:r>
            <a:r>
              <a:rPr lang="en-US" altLang="en-US" sz="2000" dirty="0">
                <a:latin typeface="Times New Roman" panose="02020603050405020304" pitchFamily="18" charset="0"/>
                <a:ea typeface="Arial" panose="020B0604020202020204"/>
                <a:sym typeface="+mn-ea"/>
              </a:rPr>
              <a:t>: 0.89</a:t>
            </a:r>
            <a:endParaRPr lang="en-US" altLang="en-US" sz="2000" dirty="0">
              <a:latin typeface="Times New Roman" panose="02020603050405020304" pitchFamily="18" charset="0"/>
              <a:ea typeface="Arial" panose="020B0604020202020204"/>
            </a:endParaRPr>
          </a:p>
          <a:p>
            <a:pPr marL="0" indent="0" algn="l">
              <a:buClrTx/>
              <a:buFont typeface="Arial" panose="020B0604020202020204" pitchFamily="34" charset="0"/>
              <a:buNone/>
            </a:pPr>
            <a:r>
              <a:rPr lang="en-US" altLang="en-US" sz="2000" b="1" dirty="0">
                <a:latin typeface="Times New Roman" panose="02020603050405020304" pitchFamily="18" charset="0"/>
                <a:ea typeface="Arial" panose="020B0604020202020204"/>
                <a:sym typeface="+mn-ea"/>
              </a:rPr>
              <a:t>               - Recall</a:t>
            </a:r>
            <a:r>
              <a:rPr lang="en-US" altLang="en-US" sz="2000" dirty="0">
                <a:latin typeface="Times New Roman" panose="02020603050405020304" pitchFamily="18" charset="0"/>
                <a:ea typeface="Arial" panose="020B0604020202020204"/>
                <a:sym typeface="+mn-ea"/>
              </a:rPr>
              <a:t>:</a:t>
            </a:r>
            <a:r>
              <a:rPr lang="en-US" altLang="en-US" sz="2000" b="1" dirty="0">
                <a:latin typeface="Times New Roman" panose="02020603050405020304" pitchFamily="18" charset="0"/>
                <a:ea typeface="Arial" panose="020B0604020202020204"/>
                <a:sym typeface="+mn-ea"/>
              </a:rPr>
              <a:t> </a:t>
            </a:r>
            <a:r>
              <a:rPr lang="en-US" altLang="en-US" sz="2000" dirty="0">
                <a:latin typeface="Times New Roman" panose="02020603050405020304" pitchFamily="18" charset="0"/>
                <a:ea typeface="Arial" panose="020B0604020202020204"/>
                <a:sym typeface="+mn-ea"/>
              </a:rPr>
              <a:t>0.87</a:t>
            </a:r>
            <a:endParaRPr lang="en-US" altLang="en-US" sz="2000" dirty="0">
              <a:latin typeface="Times New Roman" panose="02020603050405020304" pitchFamily="18" charset="0"/>
              <a:ea typeface="Arial" panose="020B0604020202020204"/>
              <a:sym typeface="+mn-ea"/>
            </a:endParaRPr>
          </a:p>
          <a:p>
            <a:pPr marL="0" indent="0" algn="l">
              <a:buClrTx/>
              <a:buFont typeface="Arial" panose="020B0604020202020204" pitchFamily="34" charset="0"/>
              <a:buNone/>
            </a:pPr>
            <a:r>
              <a:rPr lang="en-US" altLang="en-US" sz="2000" dirty="0">
                <a:latin typeface="Times New Roman" panose="02020603050405020304" pitchFamily="18" charset="0"/>
                <a:ea typeface="Arial" panose="020B0604020202020204"/>
                <a:sym typeface="+mn-ea"/>
              </a:rPr>
              <a:t>               - </a:t>
            </a:r>
            <a:r>
              <a:rPr lang="en-US" altLang="en-US" sz="2000" b="1" dirty="0">
                <a:latin typeface="Times New Roman" panose="02020603050405020304" pitchFamily="18" charset="0"/>
                <a:ea typeface="Arial" panose="020B0604020202020204"/>
                <a:sym typeface="+mn-ea"/>
              </a:rPr>
              <a:t>F1-score</a:t>
            </a:r>
            <a:r>
              <a:rPr lang="en-US" altLang="en-US" sz="2000" dirty="0">
                <a:latin typeface="Times New Roman" panose="02020603050405020304" pitchFamily="18" charset="0"/>
                <a:ea typeface="Arial" panose="020B0604020202020204"/>
                <a:sym typeface="+mn-ea"/>
              </a:rPr>
              <a:t>:</a:t>
            </a:r>
            <a:r>
              <a:rPr lang="en-US" altLang="en-US" sz="2000" b="1" dirty="0">
                <a:latin typeface="Times New Roman" panose="02020603050405020304" pitchFamily="18" charset="0"/>
                <a:ea typeface="Arial" panose="020B0604020202020204"/>
                <a:sym typeface="+mn-ea"/>
              </a:rPr>
              <a:t> </a:t>
            </a:r>
            <a:r>
              <a:rPr lang="en-US" altLang="en-US" sz="2000" dirty="0">
                <a:latin typeface="Times New Roman" panose="02020603050405020304" pitchFamily="18" charset="0"/>
                <a:ea typeface="Arial" panose="020B0604020202020204"/>
                <a:sym typeface="+mn-ea"/>
              </a:rPr>
              <a:t>0.85</a:t>
            </a:r>
            <a:endParaRPr lang="en-US" altLang="en-US" sz="2000" dirty="0">
              <a:latin typeface="Times New Roman" panose="02020603050405020304" pitchFamily="18" charset="0"/>
              <a:ea typeface="Arial" panose="020B0604020202020204"/>
            </a:endParaRPr>
          </a:p>
          <a:p>
            <a:pPr marL="0" indent="0" algn="l">
              <a:buClrTx/>
              <a:buFont typeface="Wingdings" panose="05000000000000000000" charset="0"/>
              <a:buNone/>
            </a:pPr>
            <a:r>
              <a:rPr lang="en-US" altLang="en-US" sz="2000" b="1" dirty="0">
                <a:latin typeface="Times New Roman" panose="02020603050405020304" pitchFamily="18" charset="0"/>
                <a:ea typeface="Arial" panose="020B0604020202020204"/>
                <a:sym typeface="+mn-ea"/>
              </a:rPr>
              <a:t>               - Accuracy</a:t>
            </a:r>
            <a:r>
              <a:rPr lang="en-US" altLang="en-US" sz="2000" dirty="0">
                <a:latin typeface="Times New Roman" panose="02020603050405020304" pitchFamily="18" charset="0"/>
                <a:ea typeface="Arial" panose="020B0604020202020204"/>
                <a:sym typeface="+mn-ea"/>
              </a:rPr>
              <a:t>: ~92%</a:t>
            </a:r>
            <a:endParaRPr lang="en-US" altLang="en-US" sz="2000" dirty="0">
              <a:latin typeface="Times New Roman" panose="02020603050405020304" pitchFamily="18" charset="0"/>
              <a:ea typeface="Arial" panose="020B0604020202020204"/>
            </a:endParaRPr>
          </a:p>
          <a:p>
            <a:pPr marL="285750" indent="-285750">
              <a:buClrTx/>
              <a:buFont typeface="Arial" panose="020B0604020202020204" pitchFamily="34" charset="0"/>
              <a:buChar char="•"/>
            </a:pPr>
            <a:r>
              <a:rPr lang="en-US" altLang="en-US" sz="2000" dirty="0">
                <a:latin typeface="Times New Roman" panose="02020603050405020304" pitchFamily="18" charset="0"/>
                <a:ea typeface="Arial" panose="020B0604020202020204"/>
                <a:sym typeface="+mn-ea"/>
              </a:rPr>
              <a:t>BART achieved slightly lower results with an F1-score of 0.82.</a:t>
            </a:r>
            <a:endParaRPr lang="en-US" altLang="en-US" sz="2000" dirty="0">
              <a:latin typeface="Times New Roman" panose="02020603050405020304" pitchFamily="18" charset="0"/>
              <a:ea typeface="Arial" panose="020B0604020202020204"/>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 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graphicFrame>
        <p:nvGraphicFramePr>
          <p:cNvPr id="2" name="Table 1"/>
          <p:cNvGraphicFramePr/>
          <p:nvPr>
            <p:custDataLst>
              <p:tags r:id="rId1"/>
            </p:custDataLst>
          </p:nvPr>
        </p:nvGraphicFramePr>
        <p:xfrm>
          <a:off x="1167765" y="4043680"/>
          <a:ext cx="9060815" cy="1981200"/>
        </p:xfrm>
        <a:graphic>
          <a:graphicData uri="http://schemas.openxmlformats.org/drawingml/2006/table">
            <a:tbl>
              <a:tblPr>
                <a:tableStyleId>{3B4B98B0-60AC-42C2-AFA5-B58CD77FA1E5}</a:tableStyleId>
              </a:tblPr>
              <a:tblGrid>
                <a:gridCol w="2268855"/>
                <a:gridCol w="2008505"/>
                <a:gridCol w="1539875"/>
                <a:gridCol w="1503045"/>
                <a:gridCol w="1740535"/>
              </a:tblGrid>
              <a:tr h="733425">
                <a:tc>
                  <a:txBody>
                    <a:bodyPr/>
                    <a:p>
                      <a:pPr algn="ctr"/>
                      <a:r>
                        <a:rPr sz="1600">
                          <a:latin typeface="Times New Roman" panose="02020603050405020304" pitchFamily="18" charset="0"/>
                          <a:cs typeface="Times New Roman" panose="02020603050405020304" pitchFamily="18" charset="0"/>
                        </a:rPr>
                        <a:t>Model</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cmpd="sng">
                      <a:solidFill>
                        <a:schemeClr val="tx1"/>
                      </a:solidFill>
                      <a:prstDash val="solid"/>
                    </a:lnT>
                    <a:lnB w="3175">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Accuracy (%)</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cmpd="sng">
                      <a:solidFill>
                        <a:schemeClr val="tx1"/>
                      </a:solidFill>
                      <a:prstDash val="solid"/>
                    </a:lnT>
                    <a:lnB w="3175">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Precision</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cmpd="sng">
                      <a:solidFill>
                        <a:schemeClr val="tx1"/>
                      </a:solidFill>
                      <a:prstDash val="solid"/>
                    </a:lnT>
                    <a:lnB w="3175">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Recall</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cmpd="sng">
                      <a:solidFill>
                        <a:schemeClr val="tx1"/>
                      </a:solidFill>
                      <a:prstDash val="solid"/>
                    </a:lnT>
                    <a:lnB w="3175">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F1-Score</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cmpd="sng">
                      <a:solidFill>
                        <a:schemeClr val="tx1"/>
                      </a:solidFill>
                      <a:prstDash val="solid"/>
                    </a:lnT>
                    <a:lnB w="3175">
                      <a:solidFill>
                        <a:schemeClr val="tx1"/>
                      </a:solidFill>
                      <a:prstDash val="solid"/>
                    </a:lnB>
                  </a:tcPr>
                </a:tc>
              </a:tr>
              <a:tr h="632460">
                <a:tc>
                  <a:txBody>
                    <a:bodyPr/>
                    <a:p>
                      <a:pPr algn="ctr"/>
                      <a:r>
                        <a:rPr sz="1600">
                          <a:latin typeface="Times New Roman" panose="02020603050405020304" pitchFamily="18" charset="0"/>
                          <a:cs typeface="Times New Roman" panose="02020603050405020304" pitchFamily="18" charset="0"/>
                        </a:rPr>
                        <a:t>FLAN-T5</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92</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0.89</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0.87</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0.85</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r>
              <a:tr h="615315">
                <a:tc>
                  <a:txBody>
                    <a:bodyPr/>
                    <a:p>
                      <a:pPr algn="ctr"/>
                      <a:r>
                        <a:rPr sz="1600">
                          <a:latin typeface="Times New Roman" panose="02020603050405020304" pitchFamily="18" charset="0"/>
                          <a:cs typeface="Times New Roman" panose="02020603050405020304" pitchFamily="18" charset="0"/>
                        </a:rPr>
                        <a:t>BART</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a:solidFill>
                        <a:schemeClr val="tx1"/>
                      </a:solidFill>
                      <a:prstDash val="solid"/>
                    </a:lnT>
                    <a:lnB w="3175" cmpd="sng">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88</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a:solidFill>
                        <a:schemeClr val="tx1"/>
                      </a:solidFill>
                      <a:prstDash val="solid"/>
                    </a:lnT>
                    <a:lnB w="3175" cmpd="sng">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0.84</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a:solidFill>
                        <a:schemeClr val="tx1"/>
                      </a:solidFill>
                      <a:prstDash val="solid"/>
                    </a:lnT>
                    <a:lnB w="3175" cmpd="sng">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0.81</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a:solidFill>
                        <a:schemeClr val="tx1"/>
                      </a:solidFill>
                      <a:prstDash val="solid"/>
                    </a:lnT>
                    <a:lnB w="3175" cmpd="sng">
                      <a:solidFill>
                        <a:schemeClr val="tx1"/>
                      </a:solidFill>
                      <a:prstDash val="solid"/>
                    </a:lnB>
                  </a:tcPr>
                </a:tc>
                <a:tc>
                  <a:txBody>
                    <a:bodyPr/>
                    <a:p>
                      <a:pPr algn="ctr"/>
                      <a:r>
                        <a:rPr sz="1600">
                          <a:latin typeface="Times New Roman" panose="02020603050405020304" pitchFamily="18" charset="0"/>
                          <a:cs typeface="Times New Roman" panose="02020603050405020304" pitchFamily="18" charset="0"/>
                        </a:rPr>
                        <a:t>0.82</a:t>
                      </a:r>
                      <a:endParaRPr sz="1600">
                        <a:latin typeface="Times New Roman" panose="02020603050405020304" pitchFamily="18" charset="0"/>
                        <a:cs typeface="Times New Roman" panose="02020603050405020304" pitchFamily="18" charset="0"/>
                      </a:endParaRPr>
                    </a:p>
                  </a:txBody>
                  <a:tcPr marL="0" marR="0" marT="0" marB="0" anchor="ctr" anchorCtr="0">
                    <a:lnL w="3175">
                      <a:solidFill>
                        <a:schemeClr val="tx1"/>
                      </a:solidFill>
                      <a:prstDash val="solid"/>
                    </a:lnL>
                    <a:lnR w="3175">
                      <a:solidFill>
                        <a:schemeClr val="tx1"/>
                      </a:solidFill>
                      <a:prstDash val="solid"/>
                    </a:lnR>
                    <a:lnT w="3175">
                      <a:solidFill>
                        <a:schemeClr val="tx1"/>
                      </a:solidFill>
                      <a:prstDash val="solid"/>
                    </a:lnT>
                    <a:lnB w="3175" cmpd="sng">
                      <a:solidFill>
                        <a:schemeClr val="tx1"/>
                      </a:solidFill>
                      <a:prstDash val="soli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735330" y="1493520"/>
            <a:ext cx="10515600" cy="4766310"/>
          </a:xfrm>
        </p:spPr>
        <p:txBody>
          <a:bodyPr>
            <a:noAutofit/>
          </a:bodyPr>
          <a:lstStyle/>
          <a:p>
            <a:pPr marL="285750" indent="-285750">
              <a:buClrTx/>
              <a:buFont typeface="Arial" panose="020B0604020202020204" pitchFamily="34" charset="0"/>
              <a:buChar char="•"/>
            </a:pPr>
            <a:r>
              <a:rPr lang="en-US" altLang="en-US" sz="2000" dirty="0">
                <a:latin typeface="Times New Roman" panose="02020603050405020304" pitchFamily="18" charset="0"/>
                <a:ea typeface="Arial" panose="020B0604020202020204"/>
                <a:sym typeface="+mn-ea"/>
              </a:rPr>
              <a:t>Developed a dual-model framework using FLAN-T5 and</a:t>
            </a:r>
            <a:r>
              <a:rPr lang="en-US" altLang="en-US" sz="2000" b="1" dirty="0">
                <a:latin typeface="Times New Roman" panose="02020603050405020304" pitchFamily="18" charset="0"/>
                <a:ea typeface="Arial" panose="020B0604020202020204"/>
                <a:sym typeface="+mn-ea"/>
              </a:rPr>
              <a:t> </a:t>
            </a:r>
            <a:r>
              <a:rPr lang="en-US" altLang="en-US" sz="2000" dirty="0">
                <a:latin typeface="Times New Roman" panose="02020603050405020304" pitchFamily="18" charset="0"/>
                <a:ea typeface="Arial" panose="020B0604020202020204"/>
                <a:sym typeface="+mn-ea"/>
              </a:rPr>
              <a:t>BART</a:t>
            </a:r>
            <a:r>
              <a:rPr lang="en-US" altLang="en-US" sz="2000" b="1" dirty="0">
                <a:latin typeface="Times New Roman" panose="02020603050405020304" pitchFamily="18" charset="0"/>
                <a:ea typeface="Arial" panose="020B0604020202020204"/>
                <a:sym typeface="+mn-ea"/>
              </a:rPr>
              <a:t> </a:t>
            </a:r>
            <a:r>
              <a:rPr lang="en-US" altLang="en-US" sz="2000" dirty="0">
                <a:latin typeface="Times New Roman" panose="02020603050405020304" pitchFamily="18" charset="0"/>
                <a:ea typeface="Arial" panose="020B0604020202020204"/>
                <a:sym typeface="+mn-ea"/>
              </a:rPr>
              <a:t>for movie genre prediction.</a:t>
            </a: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pPr>
            <a:endParaRPr lang="en-US" altLang="en-US" sz="2000" dirty="0">
              <a:latin typeface="Times New Roman" panose="02020603050405020304" pitchFamily="18" charset="0"/>
              <a:ea typeface="Arial" panose="020B0604020202020204"/>
            </a:endParaRPr>
          </a:p>
          <a:p>
            <a:pPr marL="285750" indent="-285750">
              <a:buClrTx/>
              <a:buFont typeface="Arial" panose="020B0604020202020204" pitchFamily="34" charset="0"/>
              <a:buChar char="•"/>
            </a:pPr>
            <a:r>
              <a:rPr lang="en-US" altLang="en-US" sz="2000" dirty="0">
                <a:latin typeface="Times New Roman" panose="02020603050405020304" pitchFamily="18" charset="0"/>
                <a:ea typeface="Arial" panose="020B0604020202020204"/>
                <a:sym typeface="+mn-ea"/>
              </a:rPr>
              <a:t>FLAN-T5 achieved the best results with higher accuracy and interpretability.</a:t>
            </a: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pPr>
            <a:endParaRPr lang="en-US" altLang="en-US" sz="2000" dirty="0">
              <a:latin typeface="Times New Roman" panose="02020603050405020304" pitchFamily="18" charset="0"/>
              <a:ea typeface="Arial" panose="020B0604020202020204"/>
            </a:endParaRPr>
          </a:p>
          <a:p>
            <a:pPr marL="285750" indent="-285750">
              <a:buClrTx/>
              <a:buFont typeface="Arial" panose="020B0604020202020204" pitchFamily="34" charset="0"/>
              <a:buChar char="•"/>
            </a:pPr>
            <a:r>
              <a:rPr lang="en-US" altLang="en-US" sz="2000" dirty="0">
                <a:latin typeface="Times New Roman" panose="02020603050405020304" pitchFamily="18" charset="0"/>
                <a:ea typeface="Arial" panose="020B0604020202020204"/>
                <a:sym typeface="+mn-ea"/>
              </a:rPr>
              <a:t>The system effectively addressed sparsity and </a:t>
            </a:r>
            <a:r>
              <a:rPr lang="en-US" altLang="en-US" sz="2000" dirty="0">
                <a:latin typeface="Times New Roman" panose="02020603050405020304" pitchFamily="18" charset="0"/>
                <a:ea typeface="Arial" panose="020B0604020202020204"/>
                <a:sym typeface="+mn-ea"/>
              </a:rPr>
              <a:t>cold-start issues in recommendations.</a:t>
            </a: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pPr>
            <a:endParaRPr lang="en-US" altLang="en-US" sz="2000" dirty="0">
              <a:latin typeface="Times New Roman" panose="02020603050405020304" pitchFamily="18" charset="0"/>
              <a:ea typeface="Arial" panose="020B0604020202020204"/>
            </a:endParaRPr>
          </a:p>
          <a:p>
            <a:pPr marL="285750" indent="-285750">
              <a:buClrTx/>
              <a:buFont typeface="Arial" panose="020B0604020202020204" pitchFamily="34" charset="0"/>
              <a:buChar char="•"/>
            </a:pPr>
            <a:r>
              <a:rPr lang="en-US" altLang="en-US" sz="2000" dirty="0">
                <a:latin typeface="Times New Roman" panose="02020603050405020304" pitchFamily="18" charset="0"/>
                <a:ea typeface="Arial" panose="020B0604020202020204"/>
                <a:sym typeface="+mn-ea"/>
              </a:rPr>
              <a:t>LIME improved explainability and </a:t>
            </a:r>
            <a:r>
              <a:rPr lang="en-US" altLang="en-US" sz="2000" dirty="0">
                <a:latin typeface="Times New Roman" panose="02020603050405020304" pitchFamily="18" charset="0"/>
                <a:ea typeface="Arial" panose="020B0604020202020204"/>
                <a:sym typeface="+mn-ea"/>
              </a:rPr>
              <a:t>user trust in predictions.</a:t>
            </a: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pPr>
            <a:endParaRPr lang="en-US" altLang="en-US" sz="2000" dirty="0">
              <a:latin typeface="Times New Roman" panose="02020603050405020304" pitchFamily="18" charset="0"/>
              <a:ea typeface="Arial" panose="020B0604020202020204"/>
            </a:endParaRPr>
          </a:p>
          <a:p>
            <a:pPr marL="285750" indent="-285750">
              <a:buClrTx/>
              <a:buFont typeface="Arial" panose="020B0604020202020204" pitchFamily="34" charset="0"/>
              <a:buChar char="•"/>
            </a:pPr>
            <a:r>
              <a:rPr lang="en-US" altLang="en-US" sz="2000" b="1" dirty="0">
                <a:latin typeface="Times New Roman" panose="02020603050405020304" pitchFamily="18" charset="0"/>
                <a:ea typeface="Arial" panose="020B0604020202020204"/>
                <a:sym typeface="+mn-ea"/>
              </a:rPr>
              <a:t>Future work:</a:t>
            </a:r>
            <a:r>
              <a:rPr lang="en-US" altLang="en-US" sz="2000" dirty="0">
                <a:latin typeface="Times New Roman" panose="02020603050405020304" pitchFamily="18" charset="0"/>
                <a:ea typeface="Arial" panose="020B0604020202020204"/>
                <a:sym typeface="+mn-ea"/>
              </a:rPr>
              <a:t> apply on</a:t>
            </a:r>
            <a:r>
              <a:rPr lang="en-US" altLang="en-US" sz="2000" b="1" dirty="0">
                <a:latin typeface="Times New Roman" panose="02020603050405020304" pitchFamily="18" charset="0"/>
                <a:ea typeface="Arial" panose="020B0604020202020204"/>
                <a:sym typeface="+mn-ea"/>
              </a:rPr>
              <a:t> </a:t>
            </a:r>
            <a:r>
              <a:rPr lang="en-US" altLang="en-US" sz="2000" dirty="0">
                <a:latin typeface="Times New Roman" panose="02020603050405020304" pitchFamily="18" charset="0"/>
                <a:ea typeface="Arial" panose="020B0604020202020204"/>
                <a:sym typeface="+mn-ea"/>
              </a:rPr>
              <a:t>larger, balanced datasets,</a:t>
            </a:r>
            <a:r>
              <a:rPr lang="en-US" altLang="en-US" sz="2000" b="1" dirty="0">
                <a:latin typeface="Times New Roman" panose="02020603050405020304" pitchFamily="18" charset="0"/>
                <a:ea typeface="Arial" panose="020B0604020202020204"/>
                <a:sym typeface="+mn-ea"/>
              </a:rPr>
              <a:t> </a:t>
            </a:r>
            <a:r>
              <a:rPr lang="en-US" altLang="en-US" sz="2000" dirty="0">
                <a:latin typeface="Times New Roman" panose="02020603050405020304" pitchFamily="18" charset="0"/>
                <a:ea typeface="Arial" panose="020B0604020202020204"/>
                <a:sym typeface="+mn-ea"/>
              </a:rPr>
              <a:t>integrate video/audio features,</a:t>
            </a:r>
            <a:r>
              <a:rPr lang="en-US" altLang="en-US" sz="2000" b="1" dirty="0">
                <a:latin typeface="Times New Roman" panose="02020603050405020304" pitchFamily="18" charset="0"/>
                <a:ea typeface="Arial" panose="020B0604020202020204"/>
                <a:sym typeface="+mn-ea"/>
              </a:rPr>
              <a:t> </a:t>
            </a:r>
            <a:r>
              <a:rPr lang="en-US" altLang="en-US" sz="2000" dirty="0">
                <a:latin typeface="Times New Roman" panose="02020603050405020304" pitchFamily="18" charset="0"/>
                <a:ea typeface="Arial" panose="020B0604020202020204"/>
                <a:sym typeface="+mn-ea"/>
              </a:rPr>
              <a:t>and test </a:t>
            </a:r>
            <a:endParaRPr lang="en-US" altLang="en-US" sz="2000" dirty="0">
              <a:latin typeface="Times New Roman" panose="02020603050405020304" pitchFamily="18" charset="0"/>
              <a:ea typeface="Arial" panose="020B0604020202020204"/>
            </a:endParaRPr>
          </a:p>
          <a:p>
            <a:pPr marL="285750" indent="-285750">
              <a:buClrTx/>
              <a:buFont typeface="Arial" panose="020B0604020202020204" pitchFamily="34" charset="0"/>
              <a:buChar char="•"/>
            </a:pPr>
            <a:endParaRPr lang="en-US" altLang="en-US" sz="2000" b="1" dirty="0">
              <a:latin typeface="Times New Roman" panose="02020603050405020304" pitchFamily="18" charset="0"/>
              <a:ea typeface="Arial" panose="020B0604020202020204"/>
            </a:endParaRPr>
          </a:p>
          <a:p>
            <a:pPr marL="0" indent="0">
              <a:buClrTx/>
              <a:buFont typeface="Arial" panose="020B0604020202020204" pitchFamily="34" charset="0"/>
              <a:buNone/>
            </a:pPr>
            <a:r>
              <a:rPr lang="en-US" altLang="en-US" sz="2000" b="1" dirty="0">
                <a:latin typeface="Times New Roman" panose="02020603050405020304" pitchFamily="18" charset="0"/>
                <a:ea typeface="Arial" panose="020B0604020202020204"/>
                <a:sym typeface="+mn-ea"/>
              </a:rPr>
              <a:t>                           </a:t>
            </a:r>
            <a:r>
              <a:rPr lang="en-US" altLang="en-US" sz="2000" dirty="0">
                <a:latin typeface="Times New Roman" panose="02020603050405020304" pitchFamily="18" charset="0"/>
                <a:ea typeface="Arial" panose="020B0604020202020204"/>
                <a:sym typeface="+mn-ea"/>
              </a:rPr>
              <a:t>lightweight models for real-time recommendations.</a:t>
            </a:r>
            <a:endParaRPr lang="en-US" altLang="en-US" sz="2000" dirty="0">
              <a:latin typeface="Times New Roman" panose="02020603050405020304" pitchFamily="18" charset="0"/>
              <a:ea typeface="Arial" panose="020B0604020202020204"/>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744855" y="1253490"/>
            <a:ext cx="10802620" cy="5102860"/>
          </a:xfrm>
        </p:spPr>
        <p:txBody>
          <a:bodyPr>
            <a:noAutofit/>
          </a:bodyPr>
          <a:lstStyle/>
          <a:p>
            <a:r>
              <a:rPr lang="en-US" altLang="en-US" sz="1400" dirty="0">
                <a:latin typeface="Times New Roman" panose="02020603050405020304" pitchFamily="18" charset="0"/>
                <a:cs typeface="Times New Roman" panose="02020603050405020304" pitchFamily="18" charset="0"/>
              </a:rPr>
              <a:t>[1] Z. Chen et al., “Collaborative Filtering Network with PMF for Movie Suggestions,” IEEE Trans. Knowl. Data Eng., vol. 32, no. 6, pp. </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1101–1113, Jun.  2020, doi: 10.1109/TKDE.2020.2979456.</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[2] H. Liu et al., “Multi-modal CNNs for Movie Recommendation Using Content Features,” IEEE Access, vol. 7, pp. 67886–67897, 2019, </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doi:10.1109/ACCESS.2019.2917991.</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[3] S. Ahmed et al., “Combining CNN and RNN for Sequential Recommendation,” in Proc. IEEE Int. Conf. Data Mining (ICDM), Beijing, China,</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2019, pp. 145–154, doi: 10.1109/ICDM.2019.00025.</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[4] L. Zhao et al., “Hybrid CNN-RNN for User Behavior Modeling in Movie Recommendations,” IEEE Trans. Multimedia, vol. 22, no. 5, pp.</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1230–1242, May 2020, doi: 10.1109/TMM.2019.2936457.</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[5] Q. Wang et al., “Deep Reinforcement Learning for Adaptive Recommendations,” in Proc. AAAI Conf. Artif. Intell., New York, NY, USA,</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2020, pp. 2643–2650.</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[6] Y. Sun et al., “Graph Convolutional Networks for Movie Recommendations,” in Proc. NeurIPS, Sydney, Australia, 2021, pp. 4980–4990.</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[7] P. Kumar et al., “Attention Mechanism in Recommendation Systems: A Deep Learning Approach,” in Proc. IEEE Int. Conf. Big Data,    </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Orlando, FL, USA, 2021, pp. 2282–2291.</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[8] Y. Jin et al., “A Transformer-MLP Hybrid Framework for Movie Recommendation,” in Proc. ACM RecSys, Amsterdam, The Netherlands,</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2021, pp. 315–324.</a:t>
            </a:r>
            <a:endParaRPr lang="en-US" altLang="en-US" sz="14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 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744855" y="1253490"/>
            <a:ext cx="10913745" cy="5102225"/>
          </a:xfrm>
        </p:spPr>
        <p:txBody>
          <a:bodyPr>
            <a:noAutofit/>
          </a:bodyPr>
          <a:lstStyle/>
          <a:p>
            <a:r>
              <a:rPr lang="en-US" altLang="en-US" sz="1400" dirty="0">
                <a:latin typeface="Times New Roman" panose="02020603050405020304" pitchFamily="18" charset="0"/>
                <a:cs typeface="Times New Roman" panose="02020603050405020304" pitchFamily="18" charset="0"/>
              </a:rPr>
              <a:t>[9] A. Banerjee et al., “Review-Based Movie Recommender Using Sentiment and Metadata,” in Proc. COLING, Santa Fe, NM, USA, 2018,    </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pp.165–174.</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[10] R. Singh et al., “User-Centric Recommendations Using Demographic Features,” in Proc. IEEE Int. Conf. Data Mining Workshops (ICDMW),</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Sorrento, Italy, 2020, pp. 1040–1047.</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[11] J. Zhang, M. Liu, and P. Wang, “Transformer-Based Neural Networks for Context-Aware Recommendation,” IEEE Trans. Knowl. Data Eng.,   </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vol.35, no. 7, pp. 1234–1245, Jul. 2023, doi: 10.1109/TKDE.2022.3145893.</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[12] S. Gupta and L. Huang, “Fine-Tuning BERT for Movie Review Sentiment Classification,” in Proc. IEEE Int. Conf. Big Data, Osaka, Japan,</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Dec. 2022, pp. 101–110.</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[13] R. Patel, H. Kim, and T. Nakamura, “Bridging Collaborative Filtering and NLP in Recommender Systems,” in Proc. ACM/IEEE Joint Conf.</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Digital Libraries, New York, NY, USA, Aug. 2021, pp. 87–95.</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[14]S. Rafi, A. L. Niharika, S. Neelima, K. Nikhitha, M. S. Reddy and M.Sireesha, ”Detecting Sarcasm Across Headlines and Text,” 2025 IEEE</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International Conference on Interdisciplinary Approaches in Technology and Management for Social Innovation (IATMSI), Gwalior, India, 2025,</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pp. 1-6, doi: 10.1109/IATMSI64286.2025.10984543.</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[15] C. Yamani, K. Thrylokya, B. Sirisha, S. Bhagyalatha, R. K. Eluri and S.Moturi, ”Text-Based Emotion Analysis: Approaches and Evaluations,”</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2025 IEEE International Conference on Interdisciplinary Approaches in Technology and Management for Social Innovation (IATMSI), Gwalior,</a:t>
            </a:r>
            <a:endParaRPr lang="en-US" altLang="en-US" sz="1400" dirty="0">
              <a:latin typeface="Times New Roman" panose="02020603050405020304" pitchFamily="18" charset="0"/>
              <a:cs typeface="Times New Roman" panose="02020603050405020304" pitchFamily="18" charset="0"/>
            </a:endParaRPr>
          </a:p>
          <a:p>
            <a:pPr marL="0" indent="0">
              <a:buNone/>
            </a:pPr>
            <a:r>
              <a:rPr lang="en-US" altLang="en-US" sz="1400" dirty="0">
                <a:latin typeface="Times New Roman" panose="02020603050405020304" pitchFamily="18" charset="0"/>
                <a:cs typeface="Times New Roman" panose="02020603050405020304" pitchFamily="18" charset="0"/>
              </a:rPr>
              <a:t>        India, 2025, pp. 1-6, doi: 10.1109/IATMSI64286.2025.10984985.</a:t>
            </a:r>
            <a:endParaRPr lang="en-US" altLang="en-US" sz="14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 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 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pic>
        <p:nvPicPr>
          <p:cNvPr id="2050" name="Picture 2" descr="Adobe Stock"/>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788229" y="1206289"/>
            <a:ext cx="5341678" cy="41267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2        Batch No.AB4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pic>
        <p:nvPicPr>
          <p:cNvPr id="1026" name="Picture 2" descr="Thank You Clipart | Customize Color ..."/>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505060" y="1403903"/>
            <a:ext cx="5676262" cy="38958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p="http://schemas.openxmlformats.org/presentationml/2006/main">
  <p:tag name="KSO_WM_DIAGRAM_VIRTUALLY_FRAME" val="{&quot;height&quot;:388.6,&quot;left&quot;:66,&quot;top&quot;:97.85,&quot;width&quot;:846.75}"/>
</p:tagLst>
</file>

<file path=ppt/tags/tag2.xml><?xml version="1.0" encoding="utf-8"?>
<p:tagLst xmlns:p="http://schemas.openxmlformats.org/presentationml/2006/main">
  <p:tag name="KSO_WM_DIAGRAM_VIRTUALLY_FRAME" val="{&quot;height&quot;:388.6,&quot;left&quot;:66,&quot;top&quot;:97.85,&quot;width&quot;:846.75}"/>
</p:tagLst>
</file>

<file path=ppt/tags/tag3.xml><?xml version="1.0" encoding="utf-8"?>
<p:tagLst xmlns:p="http://schemas.openxmlformats.org/presentationml/2006/main">
  <p:tag name="KSO_WM_DIAGRAM_VIRTUALLY_FRAME" val="{&quot;height&quot;:388.6,&quot;left&quot;:66,&quot;top&quot;:97.85,&quot;width&quot;:846.75}"/>
</p:tagLst>
</file>

<file path=ppt/tags/tag4.xml><?xml version="1.0" encoding="utf-8"?>
<p:tagLst xmlns:p="http://schemas.openxmlformats.org/presentationml/2006/main">
  <p:tag name="KSO_WM_DIAGRAM_VIRTUALLY_FRAME" val="{&quot;height&quot;:388.6,&quot;left&quot;:66,&quot;top&quot;:97.85,&quot;width&quot;:846.75}"/>
</p:tagLst>
</file>

<file path=ppt/tags/tag5.xml><?xml version="1.0" encoding="utf-8"?>
<p:tagLst xmlns:p="http://schemas.openxmlformats.org/presentationml/2006/main">
  <p:tag name="TABLE_ENDDRAG_ORIGIN_RECT" val="694*155"/>
  <p:tag name="TABLE_ENDDRAG_RECT" val="118*318*694*15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16076</Words>
  <Application>WPS Presentation</Application>
  <PresentationFormat>Widescreen</PresentationFormat>
  <Paragraphs>583</Paragraphs>
  <Slides>24</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24</vt:i4>
      </vt:variant>
    </vt:vector>
  </HeadingPairs>
  <TitlesOfParts>
    <vt:vector size="37" baseType="lpstr">
      <vt:lpstr>Arial</vt:lpstr>
      <vt:lpstr>SimSun</vt:lpstr>
      <vt:lpstr>Wingdings</vt:lpstr>
      <vt:lpstr>Times New Roman</vt:lpstr>
      <vt:lpstr>Arial</vt:lpstr>
      <vt:lpstr>Times New Roman</vt:lpstr>
      <vt:lpstr>Microsoft Sans Serif</vt:lpstr>
      <vt:lpstr>Wingdings</vt:lpstr>
      <vt:lpstr>Microsoft YaHei</vt:lpstr>
      <vt:lpstr>Arial Unicode MS</vt:lpstr>
      <vt:lpstr>Calibri Light</vt:lpstr>
      <vt:lpstr>Calibri</vt:lpstr>
      <vt:lpstr>Office Theme</vt:lpstr>
      <vt:lpstr>PowerPoint 演示文稿</vt:lpstr>
      <vt:lpstr>OUTLINE</vt:lpstr>
      <vt:lpstr>ABSTRACT</vt:lpstr>
      <vt:lpstr>INTRODUCTION</vt:lpstr>
      <vt:lpstr>LITERATURE SURVEY</vt:lpstr>
      <vt:lpstr>RESEARCH GAPS</vt:lpstr>
      <vt:lpstr>PROBLEM STATEMENT</vt:lpstr>
      <vt:lpstr>OBJECTIVES</vt:lpstr>
      <vt:lpstr>METHODOLOGY</vt:lpstr>
      <vt:lpstr>PowerPoint 演示文稿</vt:lpstr>
      <vt:lpstr>PowerPoint 演示文稿</vt:lpstr>
      <vt:lpstr>PowerPoint 演示文稿</vt:lpstr>
      <vt:lpstr>PowerPoint 演示文稿</vt:lpstr>
      <vt:lpstr>PowerPoint 演示文稿</vt:lpstr>
      <vt:lpstr>IMPLEMENTATION </vt:lpstr>
      <vt:lpstr>IMPLEMENTATION </vt:lpstr>
      <vt:lpstr>RESULTS &amp; ANALYSIS</vt:lpstr>
      <vt:lpstr>RESULTS &amp; ANALYSIS</vt:lpstr>
      <vt:lpstr>Model Performance Evaluation:</vt:lpstr>
      <vt:lpstr>CONCLUSION and FUTURE SCOPE</vt:lpstr>
      <vt:lpstr>REFERENCES</vt:lpstr>
      <vt:lpstr>REFERENCES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Atmakuri Jagadeesh</cp:lastModifiedBy>
  <cp:revision>33</cp:revision>
  <dcterms:created xsi:type="dcterms:W3CDTF">2023-12-22T11:34:00Z</dcterms:created>
  <dcterms:modified xsi:type="dcterms:W3CDTF">2025-12-05T09:01:52Z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4BCE311B7AB04C1E8AF083D292882416_12</vt:lpwstr>
  </property>
  <property fmtid="{D5CDD505-2E9C-101B-9397-08002B2CF9AE}" pid="3" name="KSOProductBuildVer">
    <vt:lpwstr>1033-12.2.0.23155</vt:lpwstr>
  </property>
</Properties>
</file>